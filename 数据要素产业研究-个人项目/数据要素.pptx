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31.svg" ContentType="image/svg+xml"/>
  <Override PartName="/ppt/media/image33.svg" ContentType="image/svg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  <p:sldId id="267" r:id="rId10"/>
    <p:sldId id="265" r:id="rId11"/>
    <p:sldId id="272" r:id="rId12"/>
    <p:sldId id="269" r:id="rId13"/>
    <p:sldId id="271" r:id="rId15"/>
    <p:sldId id="262" r:id="rId16"/>
    <p:sldId id="278" r:id="rId17"/>
    <p:sldId id="280" r:id="rId18"/>
    <p:sldId id="268" r:id="rId19"/>
    <p:sldId id="279" r:id="rId20"/>
    <p:sldId id="282" r:id="rId21"/>
    <p:sldId id="270" r:id="rId22"/>
    <p:sldId id="274" r:id="rId23"/>
    <p:sldId id="264" r:id="rId24"/>
    <p:sldId id="266" r:id="rId25"/>
    <p:sldId id="273" r:id="rId26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A8B8"/>
    <a:srgbClr val="3087B8"/>
    <a:srgbClr val="3047B8"/>
    <a:srgbClr val="3A30B8"/>
    <a:srgbClr val="9B30B8"/>
    <a:srgbClr val="B85A30"/>
    <a:srgbClr val="B87A30"/>
    <a:srgbClr val="B83A30"/>
    <a:srgbClr val="B83057"/>
    <a:srgbClr val="B83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BC348F-B050-404B-85B8-15597D7D7DCA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86483" autoAdjust="0"/>
  </p:normalViewPr>
  <p:slideViewPr>
    <p:cSldViewPr snapToGrid="0">
      <p:cViewPr varScale="1">
        <p:scale>
          <a:sx n="60" d="100"/>
          <a:sy n="60" d="100"/>
        </p:scale>
        <p:origin x="96" y="8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44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flip="none" rotWithShape="1">
          <a:gsLst>
            <a:gs pos="0">
              <a:schemeClr val="bg1"/>
            </a:gs>
            <a:gs pos="100000">
              <a:schemeClr val="accent1">
                <a:lumMod val="20000"/>
                <a:lumOff val="80000"/>
                <a:alpha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hasCustomPrompt="1"/>
          </p:nvPr>
        </p:nvSpPr>
        <p:spPr>
          <a:xfrm>
            <a:off x="680664" y="1310642"/>
            <a:ext cx="6736136" cy="205569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6" name="副标题 5"/>
          <p:cNvSpPr>
            <a:spLocks noGrp="1"/>
          </p:cNvSpPr>
          <p:nvPr>
            <p:ph type="subTitle" sz="quarter" idx="1" hasCustomPrompt="1"/>
          </p:nvPr>
        </p:nvSpPr>
        <p:spPr>
          <a:xfrm>
            <a:off x="680664" y="3488659"/>
            <a:ext cx="6736136" cy="83589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82891" y="4793963"/>
            <a:ext cx="6732000" cy="288000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82891" y="5120621"/>
            <a:ext cx="6732000" cy="288000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  <p:sp>
        <p:nvSpPr>
          <p:cNvPr id="54" name="任意多边形 53"/>
          <p:cNvSpPr/>
          <p:nvPr/>
        </p:nvSpPr>
        <p:spPr>
          <a:xfrm rot="18982103" flipV="1">
            <a:off x="8004634" y="-1555547"/>
            <a:ext cx="3821925" cy="4698080"/>
          </a:xfrm>
          <a:custGeom>
            <a:avLst/>
            <a:gdLst>
              <a:gd name="connsiteX0" fmla="*/ 3821925 w 3821925"/>
              <a:gd name="connsiteY0" fmla="*/ 1054487 h 4698080"/>
              <a:gd name="connsiteX1" fmla="*/ 2816640 w 3821925"/>
              <a:gd name="connsiteY1" fmla="*/ 0 h 4698080"/>
              <a:gd name="connsiteX2" fmla="*/ 286746 w 3821925"/>
              <a:gd name="connsiteY2" fmla="*/ 0 h 4698080"/>
              <a:gd name="connsiteX3" fmla="*/ 83986 w 3821925"/>
              <a:gd name="connsiteY3" fmla="*/ 83987 h 4698080"/>
              <a:gd name="connsiteX4" fmla="*/ 0 w 3821925"/>
              <a:gd name="connsiteY4" fmla="*/ 286747 h 4698080"/>
              <a:gd name="connsiteX5" fmla="*/ 0 w 3821925"/>
              <a:gd name="connsiteY5" fmla="*/ 4698080 h 469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21925" h="4698080">
                <a:moveTo>
                  <a:pt x="3821925" y="1054487"/>
                </a:moveTo>
                <a:lnTo>
                  <a:pt x="2816640" y="0"/>
                </a:lnTo>
                <a:lnTo>
                  <a:pt x="286746" y="0"/>
                </a:lnTo>
                <a:cubicBezTo>
                  <a:pt x="207565" y="0"/>
                  <a:pt x="135878" y="32095"/>
                  <a:pt x="83986" y="83987"/>
                </a:cubicBezTo>
                <a:cubicBezTo>
                  <a:pt x="32096" y="135876"/>
                  <a:pt x="0" y="207564"/>
                  <a:pt x="0" y="286747"/>
                </a:cubicBezTo>
                <a:lnTo>
                  <a:pt x="0" y="4698080"/>
                </a:ln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66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61670" y="-2043291"/>
            <a:ext cx="11772206" cy="11383301"/>
            <a:chOff x="661670" y="-2043291"/>
            <a:chExt cx="11772206" cy="11383301"/>
          </a:xfrm>
        </p:grpSpPr>
        <p:cxnSp>
          <p:nvCxnSpPr>
            <p:cNvPr id="134" name="直接连接符 133"/>
            <p:cNvCxnSpPr/>
            <p:nvPr/>
          </p:nvCxnSpPr>
          <p:spPr>
            <a:xfrm>
              <a:off x="756920" y="3428997"/>
              <a:ext cx="6120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661670" y="-2043291"/>
              <a:ext cx="11772206" cy="11383301"/>
              <a:chOff x="661670" y="-2043291"/>
              <a:chExt cx="11772206" cy="1138330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0796748" y="541050"/>
                <a:ext cx="722152" cy="106965"/>
                <a:chOff x="10796748" y="541050"/>
                <a:chExt cx="722152" cy="106965"/>
              </a:xfrm>
            </p:grpSpPr>
            <p:sp>
              <p:nvSpPr>
                <p:cNvPr id="5" name="椭圆 4"/>
                <p:cNvSpPr>
                  <a:spLocks noChangeArrowheads="1"/>
                </p:cNvSpPr>
                <p:nvPr/>
              </p:nvSpPr>
              <p:spPr bwMode="auto">
                <a:xfrm rot="10800000">
                  <a:off x="11409192" y="541050"/>
                  <a:ext cx="109708" cy="10696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" name="椭圆 1"/>
                <p:cNvSpPr>
                  <a:spLocks noChangeArrowheads="1"/>
                </p:cNvSpPr>
                <p:nvPr/>
              </p:nvSpPr>
              <p:spPr bwMode="auto">
                <a:xfrm rot="10800000">
                  <a:off x="11205046" y="541050"/>
                  <a:ext cx="109708" cy="10696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" name="椭圆 10"/>
                <p:cNvSpPr>
                  <a:spLocks noChangeArrowheads="1"/>
                </p:cNvSpPr>
                <p:nvPr/>
              </p:nvSpPr>
              <p:spPr bwMode="auto">
                <a:xfrm rot="10800000">
                  <a:off x="11000898" y="541050"/>
                  <a:ext cx="109708" cy="10696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椭圆 12"/>
                <p:cNvSpPr>
                  <a:spLocks noChangeArrowheads="1"/>
                </p:cNvSpPr>
                <p:nvPr/>
              </p:nvSpPr>
              <p:spPr bwMode="auto">
                <a:xfrm rot="10800000">
                  <a:off x="10796748" y="541050"/>
                  <a:ext cx="109708" cy="10696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" name="任意多边形 43"/>
              <p:cNvSpPr/>
              <p:nvPr/>
            </p:nvSpPr>
            <p:spPr>
              <a:xfrm rot="18982103" flipV="1">
                <a:off x="10044816" y="-1291468"/>
                <a:ext cx="2389060" cy="4299921"/>
              </a:xfrm>
              <a:custGeom>
                <a:avLst/>
                <a:gdLst>
                  <a:gd name="connsiteX0" fmla="*/ 2389060 w 2389060"/>
                  <a:gd name="connsiteY0" fmla="*/ 2022336 h 4299921"/>
                  <a:gd name="connsiteX1" fmla="*/ 461086 w 2389060"/>
                  <a:gd name="connsiteY1" fmla="*/ 0 h 4299921"/>
                  <a:gd name="connsiteX2" fmla="*/ 310630 w 2389060"/>
                  <a:gd name="connsiteY2" fmla="*/ 0 h 4299921"/>
                  <a:gd name="connsiteX3" fmla="*/ 90981 w 2389060"/>
                  <a:gd name="connsiteY3" fmla="*/ 90982 h 4299921"/>
                  <a:gd name="connsiteX4" fmla="*/ 0 w 2389060"/>
                  <a:gd name="connsiteY4" fmla="*/ 310630 h 4299921"/>
                  <a:gd name="connsiteX5" fmla="*/ 0 w 2389060"/>
                  <a:gd name="connsiteY5" fmla="*/ 4299921 h 429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9060" h="4299921">
                    <a:moveTo>
                      <a:pt x="2389060" y="2022336"/>
                    </a:moveTo>
                    <a:lnTo>
                      <a:pt x="461086" y="0"/>
                    </a:lnTo>
                    <a:lnTo>
                      <a:pt x="310630" y="0"/>
                    </a:lnTo>
                    <a:cubicBezTo>
                      <a:pt x="224853" y="0"/>
                      <a:pt x="147195" y="34768"/>
                      <a:pt x="90981" y="90982"/>
                    </a:cubicBezTo>
                    <a:cubicBezTo>
                      <a:pt x="34769" y="147194"/>
                      <a:pt x="0" y="224852"/>
                      <a:pt x="0" y="310630"/>
                    </a:cubicBezTo>
                    <a:lnTo>
                      <a:pt x="0" y="42999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18982103" flipV="1">
                <a:off x="7703920" y="-2043291"/>
                <a:ext cx="4169770" cy="5341164"/>
              </a:xfrm>
              <a:custGeom>
                <a:avLst/>
                <a:gdLst>
                  <a:gd name="connsiteX0" fmla="*/ 9188 w 4169770"/>
                  <a:gd name="connsiteY0" fmla="*/ 5341164 h 5341164"/>
                  <a:gd name="connsiteX1" fmla="*/ 4169770 w 4169770"/>
                  <a:gd name="connsiteY1" fmla="*/ 1374715 h 5341164"/>
                  <a:gd name="connsiteX2" fmla="*/ 2859199 w 4169770"/>
                  <a:gd name="connsiteY2" fmla="*/ 0 h 5341164"/>
                  <a:gd name="connsiteX3" fmla="*/ 310630 w 4169770"/>
                  <a:gd name="connsiteY3" fmla="*/ 0 h 5341164"/>
                  <a:gd name="connsiteX4" fmla="*/ 90981 w 4169770"/>
                  <a:gd name="connsiteY4" fmla="*/ 90982 h 5341164"/>
                  <a:gd name="connsiteX5" fmla="*/ 0 w 4169770"/>
                  <a:gd name="connsiteY5" fmla="*/ 310630 h 5341164"/>
                  <a:gd name="connsiteX6" fmla="*/ 0 w 4169770"/>
                  <a:gd name="connsiteY6" fmla="*/ 5269292 h 5341164"/>
                  <a:gd name="connsiteX7" fmla="*/ 6311 w 4169770"/>
                  <a:gd name="connsiteY7" fmla="*/ 5331895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69770" h="5341164">
                    <a:moveTo>
                      <a:pt x="9188" y="5341164"/>
                    </a:moveTo>
                    <a:lnTo>
                      <a:pt x="4169770" y="1374715"/>
                    </a:lnTo>
                    <a:lnTo>
                      <a:pt x="2859199" y="0"/>
                    </a:lnTo>
                    <a:lnTo>
                      <a:pt x="310630" y="0"/>
                    </a:lnTo>
                    <a:cubicBezTo>
                      <a:pt x="224853" y="0"/>
                      <a:pt x="147195" y="34768"/>
                      <a:pt x="90981" y="90982"/>
                    </a:cubicBezTo>
                    <a:cubicBezTo>
                      <a:pt x="34769" y="147194"/>
                      <a:pt x="0" y="224852"/>
                      <a:pt x="0" y="310630"/>
                    </a:cubicBezTo>
                    <a:lnTo>
                      <a:pt x="0" y="5269292"/>
                    </a:lnTo>
                    <a:cubicBezTo>
                      <a:pt x="0" y="5290737"/>
                      <a:pt x="2173" y="5311674"/>
                      <a:pt x="6311" y="533189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9" name="组合 138"/>
              <p:cNvGrpSpPr/>
              <p:nvPr/>
            </p:nvGrpSpPr>
            <p:grpSpPr>
              <a:xfrm>
                <a:off x="6329159" y="3998846"/>
                <a:ext cx="5634572" cy="5341164"/>
                <a:chOff x="6329159" y="3998846"/>
                <a:chExt cx="5634572" cy="5341164"/>
              </a:xfrm>
            </p:grpSpPr>
            <p:sp>
              <p:nvSpPr>
                <p:cNvPr id="36" name="任意多边形 35"/>
                <p:cNvSpPr/>
                <p:nvPr/>
              </p:nvSpPr>
              <p:spPr>
                <a:xfrm rot="2617897">
                  <a:off x="8670055" y="4288266"/>
                  <a:ext cx="3293676" cy="4299921"/>
                </a:xfrm>
                <a:custGeom>
                  <a:avLst/>
                  <a:gdLst>
                    <a:gd name="connsiteX0" fmla="*/ 90981 w 3293676"/>
                    <a:gd name="connsiteY0" fmla="*/ 90982 h 4299921"/>
                    <a:gd name="connsiteX1" fmla="*/ 310630 w 3293676"/>
                    <a:gd name="connsiteY1" fmla="*/ 0 h 4299921"/>
                    <a:gd name="connsiteX2" fmla="*/ 2187869 w 3293676"/>
                    <a:gd name="connsiteY2" fmla="*/ 0 h 4299921"/>
                    <a:gd name="connsiteX3" fmla="*/ 3293676 w 3293676"/>
                    <a:gd name="connsiteY3" fmla="*/ 1159929 h 4299921"/>
                    <a:gd name="connsiteX4" fmla="*/ 0 w 3293676"/>
                    <a:gd name="connsiteY4" fmla="*/ 4299921 h 4299921"/>
                    <a:gd name="connsiteX5" fmla="*/ 0 w 3293676"/>
                    <a:gd name="connsiteY5" fmla="*/ 310630 h 4299921"/>
                    <a:gd name="connsiteX6" fmla="*/ 90981 w 3293676"/>
                    <a:gd name="connsiteY6" fmla="*/ 90982 h 429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93676" h="4299921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2187869" y="0"/>
                      </a:lnTo>
                      <a:lnTo>
                        <a:pt x="3293676" y="1159929"/>
                      </a:lnTo>
                      <a:lnTo>
                        <a:pt x="0" y="4299921"/>
                      </a:ln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58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任意多边形 33"/>
                <p:cNvSpPr/>
                <p:nvPr/>
              </p:nvSpPr>
              <p:spPr>
                <a:xfrm rot="2617897">
                  <a:off x="6329159" y="3998846"/>
                  <a:ext cx="5074386" cy="5341164"/>
                </a:xfrm>
                <a:custGeom>
                  <a:avLst/>
                  <a:gdLst>
                    <a:gd name="connsiteX0" fmla="*/ 90981 w 5074386"/>
                    <a:gd name="connsiteY0" fmla="*/ 90982 h 5341164"/>
                    <a:gd name="connsiteX1" fmla="*/ 310630 w 5074386"/>
                    <a:gd name="connsiteY1" fmla="*/ 0 h 5341164"/>
                    <a:gd name="connsiteX2" fmla="*/ 4585982 w 5074386"/>
                    <a:gd name="connsiteY2" fmla="*/ 0 h 5341164"/>
                    <a:gd name="connsiteX3" fmla="*/ 5074386 w 5074386"/>
                    <a:gd name="connsiteY3" fmla="*/ 512308 h 5341164"/>
                    <a:gd name="connsiteX4" fmla="*/ 9188 w 5074386"/>
                    <a:gd name="connsiteY4" fmla="*/ 5341164 h 5341164"/>
                    <a:gd name="connsiteX5" fmla="*/ 6311 w 5074386"/>
                    <a:gd name="connsiteY5" fmla="*/ 5331895 h 5341164"/>
                    <a:gd name="connsiteX6" fmla="*/ 0 w 5074386"/>
                    <a:gd name="connsiteY6" fmla="*/ 5269292 h 5341164"/>
                    <a:gd name="connsiteX7" fmla="*/ 0 w 5074386"/>
                    <a:gd name="connsiteY7" fmla="*/ 310630 h 5341164"/>
                    <a:gd name="connsiteX8" fmla="*/ 90981 w 5074386"/>
                    <a:gd name="connsiteY8" fmla="*/ 90982 h 5341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74386" h="5341164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4585982" y="0"/>
                      </a:lnTo>
                      <a:lnTo>
                        <a:pt x="5074386" y="512308"/>
                      </a:lnTo>
                      <a:lnTo>
                        <a:pt x="9188" y="5341164"/>
                      </a:lnTo>
                      <a:lnTo>
                        <a:pt x="6311" y="5331895"/>
                      </a:lnTo>
                      <a:cubicBezTo>
                        <a:pt x="2173" y="5311674"/>
                        <a:pt x="0" y="5290737"/>
                        <a:pt x="0" y="5269292"/>
                      </a:cubicBez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任意多边形 46"/>
                <p:cNvSpPr/>
                <p:nvPr/>
              </p:nvSpPr>
              <p:spPr>
                <a:xfrm rot="2617897">
                  <a:off x="6451259" y="4173378"/>
                  <a:ext cx="4932906" cy="5089389"/>
                </a:xfrm>
                <a:custGeom>
                  <a:avLst/>
                  <a:gdLst>
                    <a:gd name="connsiteX0" fmla="*/ 90981 w 4932906"/>
                    <a:gd name="connsiteY0" fmla="*/ 90982 h 5089389"/>
                    <a:gd name="connsiteX1" fmla="*/ 310630 w 4932906"/>
                    <a:gd name="connsiteY1" fmla="*/ 0 h 5089389"/>
                    <a:gd name="connsiteX2" fmla="*/ 4564295 w 4932906"/>
                    <a:gd name="connsiteY2" fmla="*/ 0 h 5089389"/>
                    <a:gd name="connsiteX3" fmla="*/ 4932906 w 4932906"/>
                    <a:gd name="connsiteY3" fmla="*/ 386653 h 5089389"/>
                    <a:gd name="connsiteX4" fmla="*/ 0 w 4932906"/>
                    <a:gd name="connsiteY4" fmla="*/ 5089389 h 5089389"/>
                    <a:gd name="connsiteX5" fmla="*/ 0 w 4932906"/>
                    <a:gd name="connsiteY5" fmla="*/ 310630 h 5089389"/>
                    <a:gd name="connsiteX6" fmla="*/ 90981 w 4932906"/>
                    <a:gd name="connsiteY6" fmla="*/ 90982 h 5089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32906" h="5089389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4564295" y="0"/>
                      </a:lnTo>
                      <a:lnTo>
                        <a:pt x="4932906" y="386653"/>
                      </a:lnTo>
                      <a:lnTo>
                        <a:pt x="0" y="5089389"/>
                      </a:ln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noFill/>
                <a:ln>
                  <a:gradFill flip="none" rotWithShape="1"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66000">
                        <a:schemeClr val="accent1">
                          <a:lumMod val="20000"/>
                          <a:lumOff val="80000"/>
                          <a:alpha val="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8" name="组合 137"/>
              <p:cNvGrpSpPr/>
              <p:nvPr/>
            </p:nvGrpSpPr>
            <p:grpSpPr>
              <a:xfrm>
                <a:off x="11147928" y="6256382"/>
                <a:ext cx="411013" cy="228983"/>
                <a:chOff x="11147928" y="6256382"/>
                <a:chExt cx="411013" cy="228983"/>
              </a:xfrm>
            </p:grpSpPr>
            <p:sp>
              <p:nvSpPr>
                <p:cNvPr id="133" name="乘号 132"/>
                <p:cNvSpPr/>
                <p:nvPr/>
              </p:nvSpPr>
              <p:spPr>
                <a:xfrm rot="16200000">
                  <a:off x="11147928" y="6256382"/>
                  <a:ext cx="228983" cy="228983"/>
                </a:xfrm>
                <a:prstGeom prst="mathMultiply">
                  <a:avLst>
                    <a:gd name="adj1" fmla="val 13121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6" name="乘号 135"/>
                <p:cNvSpPr/>
                <p:nvPr/>
              </p:nvSpPr>
              <p:spPr>
                <a:xfrm>
                  <a:off x="11334211" y="6261425"/>
                  <a:ext cx="224730" cy="218895"/>
                </a:xfrm>
                <a:prstGeom prst="mathMultiply">
                  <a:avLst>
                    <a:gd name="adj1" fmla="val 18164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9" name="组合 128"/>
              <p:cNvGrpSpPr/>
              <p:nvPr/>
            </p:nvGrpSpPr>
            <p:grpSpPr>
              <a:xfrm>
                <a:off x="661670" y="6310147"/>
                <a:ext cx="175483" cy="121452"/>
                <a:chOff x="3048000" y="-558800"/>
                <a:chExt cx="477100" cy="330200"/>
              </a:xfrm>
            </p:grpSpPr>
            <p:sp>
              <p:nvSpPr>
                <p:cNvPr id="131" name="椭圆 130"/>
                <p:cNvSpPr/>
                <p:nvPr/>
              </p:nvSpPr>
              <p:spPr>
                <a:xfrm>
                  <a:off x="3194900" y="-558800"/>
                  <a:ext cx="330200" cy="330200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2" name="椭圆 131"/>
                <p:cNvSpPr/>
                <p:nvPr/>
              </p:nvSpPr>
              <p:spPr>
                <a:xfrm>
                  <a:off x="3048000" y="-558800"/>
                  <a:ext cx="330200" cy="330200"/>
                </a:xfrm>
                <a:prstGeom prst="ellipse">
                  <a:avLst/>
                </a:prstGeom>
                <a:gradFill>
                  <a:gsLst>
                    <a:gs pos="483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30" name="直接连接符 129"/>
              <p:cNvCxnSpPr/>
              <p:nvPr/>
            </p:nvCxnSpPr>
            <p:spPr>
              <a:xfrm>
                <a:off x="941388" y="6384440"/>
                <a:ext cx="10222621" cy="0"/>
              </a:xfrm>
              <a:prstGeom prst="line">
                <a:avLst/>
              </a:prstGeom>
              <a:ln w="635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686550" y="4384698"/>
            <a:ext cx="0" cy="1683934"/>
          </a:xfrm>
          <a:prstGeom prst="line">
            <a:avLst/>
          </a:prstGeom>
          <a:ln w="12700" cap="rnd"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011854" y="4384698"/>
            <a:ext cx="0" cy="1291460"/>
          </a:xfrm>
          <a:prstGeom prst="line">
            <a:avLst/>
          </a:prstGeom>
          <a:ln w="12700" cap="rnd"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2825" y="1130300"/>
            <a:ext cx="2879183" cy="79692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6089650" y="1987422"/>
            <a:ext cx="5385238" cy="3596997"/>
          </a:xfrm>
        </p:spPr>
        <p:txBody>
          <a:bodyPr numCol="1"/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 marL="800100" indent="-342900" algn="l">
              <a:lnSpc>
                <a:spcPct val="100000"/>
              </a:lnSpc>
              <a:buFont typeface="+mj-ea"/>
              <a:buAutoNum type="circleNumDbPlain"/>
              <a:defRPr>
                <a:solidFill>
                  <a:schemeClr val="tx1"/>
                </a:solidFill>
                <a:latin typeface="+mn-ea"/>
                <a:ea typeface="+mn-ea"/>
              </a:defRPr>
            </a:lvl2pPr>
            <a:lvl3pPr marL="1257300" indent="-342900" algn="l">
              <a:lnSpc>
                <a:spcPct val="100000"/>
              </a:lnSpc>
              <a:buFont typeface="+mj-lt"/>
              <a:buAutoNum type="alphaLcParenR"/>
              <a:defRPr>
                <a:solidFill>
                  <a:schemeClr val="tx1"/>
                </a:solidFill>
                <a:latin typeface="+mn-ea"/>
                <a:ea typeface="+mn-ea"/>
              </a:defRPr>
            </a:lvl3pPr>
            <a:lvl4pPr algn="l">
              <a:lnSpc>
                <a:spcPct val="100000"/>
              </a:lnSpc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 algn="l">
              <a:lnSpc>
                <a:spcPct val="100000"/>
              </a:lnSpc>
              <a:defRPr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>
            <a:off x="-234817" y="-2500491"/>
            <a:ext cx="11793758" cy="11383301"/>
            <a:chOff x="-234817" y="-2500491"/>
            <a:chExt cx="11793758" cy="11383301"/>
          </a:xfrm>
        </p:grpSpPr>
        <p:grpSp>
          <p:nvGrpSpPr>
            <p:cNvPr id="14" name="组合 13"/>
            <p:cNvGrpSpPr/>
            <p:nvPr/>
          </p:nvGrpSpPr>
          <p:grpSpPr>
            <a:xfrm flipH="1">
              <a:off x="-234817" y="-2500491"/>
              <a:ext cx="6104717" cy="11383301"/>
              <a:chOff x="6329159" y="-2043291"/>
              <a:chExt cx="6104717" cy="11383301"/>
            </a:xfrm>
          </p:grpSpPr>
          <p:sp>
            <p:nvSpPr>
              <p:cNvPr id="18" name="任意多边形 17"/>
              <p:cNvSpPr/>
              <p:nvPr/>
            </p:nvSpPr>
            <p:spPr>
              <a:xfrm rot="18982103" flipV="1">
                <a:off x="10044816" y="-1291468"/>
                <a:ext cx="2389060" cy="4299921"/>
              </a:xfrm>
              <a:custGeom>
                <a:avLst/>
                <a:gdLst>
                  <a:gd name="connsiteX0" fmla="*/ 2389060 w 2389060"/>
                  <a:gd name="connsiteY0" fmla="*/ 2022336 h 4299921"/>
                  <a:gd name="connsiteX1" fmla="*/ 461086 w 2389060"/>
                  <a:gd name="connsiteY1" fmla="*/ 0 h 4299921"/>
                  <a:gd name="connsiteX2" fmla="*/ 310630 w 2389060"/>
                  <a:gd name="connsiteY2" fmla="*/ 0 h 4299921"/>
                  <a:gd name="connsiteX3" fmla="*/ 90981 w 2389060"/>
                  <a:gd name="connsiteY3" fmla="*/ 90982 h 4299921"/>
                  <a:gd name="connsiteX4" fmla="*/ 0 w 2389060"/>
                  <a:gd name="connsiteY4" fmla="*/ 310630 h 4299921"/>
                  <a:gd name="connsiteX5" fmla="*/ 0 w 2389060"/>
                  <a:gd name="connsiteY5" fmla="*/ 4299921 h 429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9060" h="4299921">
                    <a:moveTo>
                      <a:pt x="2389060" y="2022336"/>
                    </a:moveTo>
                    <a:lnTo>
                      <a:pt x="461086" y="0"/>
                    </a:lnTo>
                    <a:lnTo>
                      <a:pt x="310630" y="0"/>
                    </a:lnTo>
                    <a:cubicBezTo>
                      <a:pt x="224853" y="0"/>
                      <a:pt x="147195" y="34768"/>
                      <a:pt x="90981" y="90982"/>
                    </a:cubicBezTo>
                    <a:cubicBezTo>
                      <a:pt x="34769" y="147194"/>
                      <a:pt x="0" y="224852"/>
                      <a:pt x="0" y="310630"/>
                    </a:cubicBezTo>
                    <a:lnTo>
                      <a:pt x="0" y="42999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 rot="18982103" flipV="1">
                <a:off x="7703920" y="-2043291"/>
                <a:ext cx="4169770" cy="5341164"/>
              </a:xfrm>
              <a:custGeom>
                <a:avLst/>
                <a:gdLst>
                  <a:gd name="connsiteX0" fmla="*/ 9188 w 4169770"/>
                  <a:gd name="connsiteY0" fmla="*/ 5341164 h 5341164"/>
                  <a:gd name="connsiteX1" fmla="*/ 4169770 w 4169770"/>
                  <a:gd name="connsiteY1" fmla="*/ 1374715 h 5341164"/>
                  <a:gd name="connsiteX2" fmla="*/ 2859199 w 4169770"/>
                  <a:gd name="connsiteY2" fmla="*/ 0 h 5341164"/>
                  <a:gd name="connsiteX3" fmla="*/ 310630 w 4169770"/>
                  <a:gd name="connsiteY3" fmla="*/ 0 h 5341164"/>
                  <a:gd name="connsiteX4" fmla="*/ 90981 w 4169770"/>
                  <a:gd name="connsiteY4" fmla="*/ 90982 h 5341164"/>
                  <a:gd name="connsiteX5" fmla="*/ 0 w 4169770"/>
                  <a:gd name="connsiteY5" fmla="*/ 310630 h 5341164"/>
                  <a:gd name="connsiteX6" fmla="*/ 0 w 4169770"/>
                  <a:gd name="connsiteY6" fmla="*/ 5269292 h 5341164"/>
                  <a:gd name="connsiteX7" fmla="*/ 6311 w 4169770"/>
                  <a:gd name="connsiteY7" fmla="*/ 5331895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69770" h="5341164">
                    <a:moveTo>
                      <a:pt x="9188" y="5341164"/>
                    </a:moveTo>
                    <a:lnTo>
                      <a:pt x="4169770" y="1374715"/>
                    </a:lnTo>
                    <a:lnTo>
                      <a:pt x="2859199" y="0"/>
                    </a:lnTo>
                    <a:lnTo>
                      <a:pt x="310630" y="0"/>
                    </a:lnTo>
                    <a:cubicBezTo>
                      <a:pt x="224853" y="0"/>
                      <a:pt x="147195" y="34768"/>
                      <a:pt x="90981" y="90982"/>
                    </a:cubicBezTo>
                    <a:cubicBezTo>
                      <a:pt x="34769" y="147194"/>
                      <a:pt x="0" y="224852"/>
                      <a:pt x="0" y="310630"/>
                    </a:cubicBezTo>
                    <a:lnTo>
                      <a:pt x="0" y="5269292"/>
                    </a:lnTo>
                    <a:cubicBezTo>
                      <a:pt x="0" y="5290737"/>
                      <a:pt x="2173" y="5311674"/>
                      <a:pt x="6311" y="533189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6329159" y="3998846"/>
                <a:ext cx="5634572" cy="5341164"/>
                <a:chOff x="6329159" y="3998846"/>
                <a:chExt cx="5634572" cy="5341164"/>
              </a:xfrm>
            </p:grpSpPr>
            <p:sp>
              <p:nvSpPr>
                <p:cNvPr id="22" name="任意多边形 21"/>
                <p:cNvSpPr/>
                <p:nvPr/>
              </p:nvSpPr>
              <p:spPr>
                <a:xfrm rot="2617897">
                  <a:off x="8670055" y="4288266"/>
                  <a:ext cx="3293676" cy="4299921"/>
                </a:xfrm>
                <a:custGeom>
                  <a:avLst/>
                  <a:gdLst>
                    <a:gd name="connsiteX0" fmla="*/ 90981 w 3293676"/>
                    <a:gd name="connsiteY0" fmla="*/ 90982 h 4299921"/>
                    <a:gd name="connsiteX1" fmla="*/ 310630 w 3293676"/>
                    <a:gd name="connsiteY1" fmla="*/ 0 h 4299921"/>
                    <a:gd name="connsiteX2" fmla="*/ 2187869 w 3293676"/>
                    <a:gd name="connsiteY2" fmla="*/ 0 h 4299921"/>
                    <a:gd name="connsiteX3" fmla="*/ 3293676 w 3293676"/>
                    <a:gd name="connsiteY3" fmla="*/ 1159929 h 4299921"/>
                    <a:gd name="connsiteX4" fmla="*/ 0 w 3293676"/>
                    <a:gd name="connsiteY4" fmla="*/ 4299921 h 4299921"/>
                    <a:gd name="connsiteX5" fmla="*/ 0 w 3293676"/>
                    <a:gd name="connsiteY5" fmla="*/ 310630 h 4299921"/>
                    <a:gd name="connsiteX6" fmla="*/ 90981 w 3293676"/>
                    <a:gd name="connsiteY6" fmla="*/ 90982 h 429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93676" h="4299921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2187869" y="0"/>
                      </a:lnTo>
                      <a:lnTo>
                        <a:pt x="3293676" y="1159929"/>
                      </a:lnTo>
                      <a:lnTo>
                        <a:pt x="0" y="4299921"/>
                      </a:ln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58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 rot="2617897">
                  <a:off x="6329159" y="3998846"/>
                  <a:ext cx="5074386" cy="5341164"/>
                </a:xfrm>
                <a:custGeom>
                  <a:avLst/>
                  <a:gdLst>
                    <a:gd name="connsiteX0" fmla="*/ 90981 w 5074386"/>
                    <a:gd name="connsiteY0" fmla="*/ 90982 h 5341164"/>
                    <a:gd name="connsiteX1" fmla="*/ 310630 w 5074386"/>
                    <a:gd name="connsiteY1" fmla="*/ 0 h 5341164"/>
                    <a:gd name="connsiteX2" fmla="*/ 4585982 w 5074386"/>
                    <a:gd name="connsiteY2" fmla="*/ 0 h 5341164"/>
                    <a:gd name="connsiteX3" fmla="*/ 5074386 w 5074386"/>
                    <a:gd name="connsiteY3" fmla="*/ 512308 h 5341164"/>
                    <a:gd name="connsiteX4" fmla="*/ 9188 w 5074386"/>
                    <a:gd name="connsiteY4" fmla="*/ 5341164 h 5341164"/>
                    <a:gd name="connsiteX5" fmla="*/ 6311 w 5074386"/>
                    <a:gd name="connsiteY5" fmla="*/ 5331895 h 5341164"/>
                    <a:gd name="connsiteX6" fmla="*/ 0 w 5074386"/>
                    <a:gd name="connsiteY6" fmla="*/ 5269292 h 5341164"/>
                    <a:gd name="connsiteX7" fmla="*/ 0 w 5074386"/>
                    <a:gd name="connsiteY7" fmla="*/ 310630 h 5341164"/>
                    <a:gd name="connsiteX8" fmla="*/ 90981 w 5074386"/>
                    <a:gd name="connsiteY8" fmla="*/ 90982 h 5341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74386" h="5341164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4585982" y="0"/>
                      </a:lnTo>
                      <a:lnTo>
                        <a:pt x="5074386" y="512308"/>
                      </a:lnTo>
                      <a:lnTo>
                        <a:pt x="9188" y="5341164"/>
                      </a:lnTo>
                      <a:lnTo>
                        <a:pt x="6311" y="5331895"/>
                      </a:lnTo>
                      <a:cubicBezTo>
                        <a:pt x="2173" y="5311674"/>
                        <a:pt x="0" y="5290737"/>
                        <a:pt x="0" y="5269292"/>
                      </a:cubicBez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 rot="2617897">
                  <a:off x="6451259" y="4173378"/>
                  <a:ext cx="4932906" cy="5089389"/>
                </a:xfrm>
                <a:custGeom>
                  <a:avLst/>
                  <a:gdLst>
                    <a:gd name="connsiteX0" fmla="*/ 90981 w 4932906"/>
                    <a:gd name="connsiteY0" fmla="*/ 90982 h 5089389"/>
                    <a:gd name="connsiteX1" fmla="*/ 310630 w 4932906"/>
                    <a:gd name="connsiteY1" fmla="*/ 0 h 5089389"/>
                    <a:gd name="connsiteX2" fmla="*/ 4564295 w 4932906"/>
                    <a:gd name="connsiteY2" fmla="*/ 0 h 5089389"/>
                    <a:gd name="connsiteX3" fmla="*/ 4932906 w 4932906"/>
                    <a:gd name="connsiteY3" fmla="*/ 386653 h 5089389"/>
                    <a:gd name="connsiteX4" fmla="*/ 0 w 4932906"/>
                    <a:gd name="connsiteY4" fmla="*/ 5089389 h 5089389"/>
                    <a:gd name="connsiteX5" fmla="*/ 0 w 4932906"/>
                    <a:gd name="connsiteY5" fmla="*/ 310630 h 5089389"/>
                    <a:gd name="connsiteX6" fmla="*/ 90981 w 4932906"/>
                    <a:gd name="connsiteY6" fmla="*/ 90982 h 5089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32906" h="5089389">
                      <a:moveTo>
                        <a:pt x="90981" y="90982"/>
                      </a:moveTo>
                      <a:cubicBezTo>
                        <a:pt x="147195" y="34768"/>
                        <a:pt x="224853" y="0"/>
                        <a:pt x="310630" y="0"/>
                      </a:cubicBezTo>
                      <a:lnTo>
                        <a:pt x="4564295" y="0"/>
                      </a:lnTo>
                      <a:lnTo>
                        <a:pt x="4932906" y="386653"/>
                      </a:lnTo>
                      <a:lnTo>
                        <a:pt x="0" y="5089389"/>
                      </a:lnTo>
                      <a:lnTo>
                        <a:pt x="0" y="310630"/>
                      </a:lnTo>
                      <a:cubicBezTo>
                        <a:pt x="0" y="224852"/>
                        <a:pt x="34769" y="147194"/>
                        <a:pt x="90981" y="90982"/>
                      </a:cubicBezTo>
                      <a:close/>
                    </a:path>
                  </a:pathLst>
                </a:custGeom>
                <a:noFill/>
                <a:ln>
                  <a:gradFill flip="none" rotWithShape="1"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66000">
                        <a:schemeClr val="accent1">
                          <a:lumMod val="20000"/>
                          <a:lumOff val="80000"/>
                          <a:alpha val="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1" name="任意多边形 20"/>
              <p:cNvSpPr/>
              <p:nvPr/>
            </p:nvSpPr>
            <p:spPr>
              <a:xfrm rot="18982103" flipV="1">
                <a:off x="8004634" y="-1555547"/>
                <a:ext cx="3821925" cy="4698080"/>
              </a:xfrm>
              <a:custGeom>
                <a:avLst/>
                <a:gdLst>
                  <a:gd name="connsiteX0" fmla="*/ 3821925 w 3821925"/>
                  <a:gd name="connsiteY0" fmla="*/ 1054487 h 4698080"/>
                  <a:gd name="connsiteX1" fmla="*/ 2816640 w 3821925"/>
                  <a:gd name="connsiteY1" fmla="*/ 0 h 4698080"/>
                  <a:gd name="connsiteX2" fmla="*/ 286746 w 3821925"/>
                  <a:gd name="connsiteY2" fmla="*/ 0 h 4698080"/>
                  <a:gd name="connsiteX3" fmla="*/ 83986 w 3821925"/>
                  <a:gd name="connsiteY3" fmla="*/ 83987 h 4698080"/>
                  <a:gd name="connsiteX4" fmla="*/ 0 w 3821925"/>
                  <a:gd name="connsiteY4" fmla="*/ 286747 h 4698080"/>
                  <a:gd name="connsiteX5" fmla="*/ 0 w 3821925"/>
                  <a:gd name="connsiteY5" fmla="*/ 4698080 h 4698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21925" h="4698080">
                    <a:moveTo>
                      <a:pt x="3821925" y="1054487"/>
                    </a:moveTo>
                    <a:lnTo>
                      <a:pt x="2816640" y="0"/>
                    </a:lnTo>
                    <a:lnTo>
                      <a:pt x="286746" y="0"/>
                    </a:lnTo>
                    <a:cubicBezTo>
                      <a:pt x="207565" y="0"/>
                      <a:pt x="135878" y="32095"/>
                      <a:pt x="83986" y="83987"/>
                    </a:cubicBezTo>
                    <a:cubicBezTo>
                      <a:pt x="32096" y="135876"/>
                      <a:pt x="0" y="207564"/>
                      <a:pt x="0" y="286747"/>
                    </a:cubicBezTo>
                    <a:lnTo>
                      <a:pt x="0" y="4698080"/>
                    </a:lnTo>
                    <a:close/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66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1147928" y="6256382"/>
              <a:ext cx="411013" cy="228983"/>
              <a:chOff x="11147928" y="6256382"/>
              <a:chExt cx="411013" cy="228983"/>
            </a:xfrm>
          </p:grpSpPr>
          <p:sp>
            <p:nvSpPr>
              <p:cNvPr id="26" name="乘号 25"/>
              <p:cNvSpPr/>
              <p:nvPr/>
            </p:nvSpPr>
            <p:spPr>
              <a:xfrm rot="16200000">
                <a:off x="11147928" y="6256382"/>
                <a:ext cx="228983" cy="228983"/>
              </a:xfrm>
              <a:prstGeom prst="mathMultiply">
                <a:avLst>
                  <a:gd name="adj1" fmla="val 1312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乘号 26"/>
              <p:cNvSpPr/>
              <p:nvPr/>
            </p:nvSpPr>
            <p:spPr>
              <a:xfrm>
                <a:off x="11334211" y="6261425"/>
                <a:ext cx="224730" cy="218895"/>
              </a:xfrm>
              <a:prstGeom prst="mathMultiply">
                <a:avLst>
                  <a:gd name="adj1" fmla="val 18164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61670" y="6310147"/>
              <a:ext cx="175483" cy="121452"/>
              <a:chOff x="3048000" y="-558800"/>
              <a:chExt cx="477100" cy="330200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3194900" y="-558800"/>
                <a:ext cx="330200" cy="33020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3048000" y="-558800"/>
                <a:ext cx="330200" cy="330200"/>
              </a:xfrm>
              <a:prstGeom prst="ellipse">
                <a:avLst/>
              </a:prstGeom>
              <a:gradFill>
                <a:gsLst>
                  <a:gs pos="483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path path="circle">
                  <a:fillToRect r="100000" b="10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1" name="直接连接符 30"/>
            <p:cNvCxnSpPr/>
            <p:nvPr/>
          </p:nvCxnSpPr>
          <p:spPr>
            <a:xfrm>
              <a:off x="941388" y="6384440"/>
              <a:ext cx="10222621" cy="0"/>
            </a:xfrm>
            <a:prstGeom prst="line">
              <a:avLst/>
            </a:prstGeom>
            <a:ln w="6350">
              <a:solidFill>
                <a:schemeClr val="tx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/>
            <p:cNvGrpSpPr/>
            <p:nvPr/>
          </p:nvGrpSpPr>
          <p:grpSpPr>
            <a:xfrm>
              <a:off x="10796748" y="541050"/>
              <a:ext cx="722152" cy="106965"/>
              <a:chOff x="10796748" y="541050"/>
              <a:chExt cx="722152" cy="106965"/>
            </a:xfrm>
          </p:grpSpPr>
          <p:sp>
            <p:nvSpPr>
              <p:cNvPr id="33" name="椭圆 32"/>
              <p:cNvSpPr>
                <a:spLocks noChangeArrowheads="1"/>
              </p:cNvSpPr>
              <p:nvPr/>
            </p:nvSpPr>
            <p:spPr bwMode="auto">
              <a:xfrm rot="10800000">
                <a:off x="11409192" y="541050"/>
                <a:ext cx="109708" cy="106965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33"/>
              <p:cNvSpPr>
                <a:spLocks noChangeArrowheads="1"/>
              </p:cNvSpPr>
              <p:nvPr/>
            </p:nvSpPr>
            <p:spPr bwMode="auto">
              <a:xfrm rot="10800000">
                <a:off x="11205046" y="541050"/>
                <a:ext cx="109708" cy="10696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椭圆 34"/>
              <p:cNvSpPr>
                <a:spLocks noChangeArrowheads="1"/>
              </p:cNvSpPr>
              <p:nvPr/>
            </p:nvSpPr>
            <p:spPr bwMode="auto">
              <a:xfrm rot="10800000">
                <a:off x="11000898" y="541050"/>
                <a:ext cx="109708" cy="106965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椭圆 35"/>
              <p:cNvSpPr>
                <a:spLocks noChangeArrowheads="1"/>
              </p:cNvSpPr>
              <p:nvPr/>
            </p:nvSpPr>
            <p:spPr bwMode="auto">
              <a:xfrm rot="10800000">
                <a:off x="10796748" y="541050"/>
                <a:ext cx="109708" cy="10696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gradFill>
          <a:gsLst>
            <a:gs pos="0">
              <a:schemeClr val="bg1"/>
            </a:gs>
            <a:gs pos="100000">
              <a:schemeClr val="accent1">
                <a:lumMod val="20000"/>
                <a:lumOff val="80000"/>
                <a:alpha val="4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536825" y="1337735"/>
            <a:ext cx="7118351" cy="20700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536825" y="3509606"/>
            <a:ext cx="7118351" cy="201065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3" name="组合 2"/>
          <p:cNvGrpSpPr/>
          <p:nvPr/>
        </p:nvGrpSpPr>
        <p:grpSpPr>
          <a:xfrm>
            <a:off x="661670" y="541050"/>
            <a:ext cx="10897271" cy="5944315"/>
            <a:chOff x="661670" y="541050"/>
            <a:chExt cx="10897271" cy="5944315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3036000" y="3428997"/>
              <a:ext cx="6120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661670" y="541050"/>
              <a:ext cx="10897271" cy="5944315"/>
              <a:chOff x="661670" y="541050"/>
              <a:chExt cx="10897271" cy="5944315"/>
            </a:xfrm>
          </p:grpSpPr>
          <p:sp>
            <p:nvSpPr>
              <p:cNvPr id="11" name="任意多边形 10"/>
              <p:cNvSpPr/>
              <p:nvPr/>
            </p:nvSpPr>
            <p:spPr>
              <a:xfrm rot="8017897">
                <a:off x="6098826" y="677812"/>
                <a:ext cx="5074386" cy="5341164"/>
              </a:xfrm>
              <a:custGeom>
                <a:avLst/>
                <a:gdLst>
                  <a:gd name="connsiteX0" fmla="*/ 90981 w 5074386"/>
                  <a:gd name="connsiteY0" fmla="*/ 90982 h 5341164"/>
                  <a:gd name="connsiteX1" fmla="*/ 310630 w 5074386"/>
                  <a:gd name="connsiteY1" fmla="*/ 0 h 5341164"/>
                  <a:gd name="connsiteX2" fmla="*/ 4585982 w 5074386"/>
                  <a:gd name="connsiteY2" fmla="*/ 0 h 5341164"/>
                  <a:gd name="connsiteX3" fmla="*/ 5074386 w 5074386"/>
                  <a:gd name="connsiteY3" fmla="*/ 512308 h 5341164"/>
                  <a:gd name="connsiteX4" fmla="*/ 9188 w 5074386"/>
                  <a:gd name="connsiteY4" fmla="*/ 5341164 h 5341164"/>
                  <a:gd name="connsiteX5" fmla="*/ 6311 w 5074386"/>
                  <a:gd name="connsiteY5" fmla="*/ 5331895 h 5341164"/>
                  <a:gd name="connsiteX6" fmla="*/ 0 w 5074386"/>
                  <a:gd name="connsiteY6" fmla="*/ 5269292 h 5341164"/>
                  <a:gd name="connsiteX7" fmla="*/ 0 w 5074386"/>
                  <a:gd name="connsiteY7" fmla="*/ 310630 h 5341164"/>
                  <a:gd name="connsiteX8" fmla="*/ 90981 w 5074386"/>
                  <a:gd name="connsiteY8" fmla="*/ 90982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74386" h="5341164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85982" y="0"/>
                    </a:lnTo>
                    <a:lnTo>
                      <a:pt x="5074386" y="512308"/>
                    </a:lnTo>
                    <a:lnTo>
                      <a:pt x="9188" y="5341164"/>
                    </a:lnTo>
                    <a:lnTo>
                      <a:pt x="6311" y="5331895"/>
                    </a:lnTo>
                    <a:cubicBezTo>
                      <a:pt x="2173" y="5311674"/>
                      <a:pt x="0" y="5290737"/>
                      <a:pt x="0" y="5269292"/>
                    </a:cubicBez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55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 rot="8017897">
                <a:off x="6120922" y="855060"/>
                <a:ext cx="4932906" cy="5089389"/>
              </a:xfrm>
              <a:custGeom>
                <a:avLst/>
                <a:gdLst>
                  <a:gd name="connsiteX0" fmla="*/ 90981 w 4932906"/>
                  <a:gd name="connsiteY0" fmla="*/ 90982 h 5089389"/>
                  <a:gd name="connsiteX1" fmla="*/ 310630 w 4932906"/>
                  <a:gd name="connsiteY1" fmla="*/ 0 h 5089389"/>
                  <a:gd name="connsiteX2" fmla="*/ 4564295 w 4932906"/>
                  <a:gd name="connsiteY2" fmla="*/ 0 h 5089389"/>
                  <a:gd name="connsiteX3" fmla="*/ 4932906 w 4932906"/>
                  <a:gd name="connsiteY3" fmla="*/ 386653 h 5089389"/>
                  <a:gd name="connsiteX4" fmla="*/ 0 w 4932906"/>
                  <a:gd name="connsiteY4" fmla="*/ 5089389 h 5089389"/>
                  <a:gd name="connsiteX5" fmla="*/ 0 w 4932906"/>
                  <a:gd name="connsiteY5" fmla="*/ 310630 h 5089389"/>
                  <a:gd name="connsiteX6" fmla="*/ 90981 w 4932906"/>
                  <a:gd name="connsiteY6" fmla="*/ 90982 h 5089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32906" h="5089389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64295" y="0"/>
                    </a:lnTo>
                    <a:lnTo>
                      <a:pt x="4932906" y="386653"/>
                    </a:lnTo>
                    <a:lnTo>
                      <a:pt x="0" y="5089389"/>
                    </a:ln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4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 rot="8017897">
                <a:off x="6076949" y="1198201"/>
                <a:ext cx="4238753" cy="4461599"/>
              </a:xfrm>
              <a:custGeom>
                <a:avLst/>
                <a:gdLst>
                  <a:gd name="connsiteX0" fmla="*/ 90981 w 5074386"/>
                  <a:gd name="connsiteY0" fmla="*/ 90982 h 5341164"/>
                  <a:gd name="connsiteX1" fmla="*/ 310630 w 5074386"/>
                  <a:gd name="connsiteY1" fmla="*/ 0 h 5341164"/>
                  <a:gd name="connsiteX2" fmla="*/ 4585982 w 5074386"/>
                  <a:gd name="connsiteY2" fmla="*/ 0 h 5341164"/>
                  <a:gd name="connsiteX3" fmla="*/ 5074386 w 5074386"/>
                  <a:gd name="connsiteY3" fmla="*/ 512308 h 5341164"/>
                  <a:gd name="connsiteX4" fmla="*/ 9188 w 5074386"/>
                  <a:gd name="connsiteY4" fmla="*/ 5341164 h 5341164"/>
                  <a:gd name="connsiteX5" fmla="*/ 6311 w 5074386"/>
                  <a:gd name="connsiteY5" fmla="*/ 5331895 h 5341164"/>
                  <a:gd name="connsiteX6" fmla="*/ 0 w 5074386"/>
                  <a:gd name="connsiteY6" fmla="*/ 5269292 h 5341164"/>
                  <a:gd name="connsiteX7" fmla="*/ 0 w 5074386"/>
                  <a:gd name="connsiteY7" fmla="*/ 310630 h 5341164"/>
                  <a:gd name="connsiteX8" fmla="*/ 90981 w 5074386"/>
                  <a:gd name="connsiteY8" fmla="*/ 90982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74386" h="5341164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85982" y="0"/>
                    </a:lnTo>
                    <a:lnTo>
                      <a:pt x="5074386" y="512308"/>
                    </a:lnTo>
                    <a:lnTo>
                      <a:pt x="9188" y="5341164"/>
                    </a:lnTo>
                    <a:lnTo>
                      <a:pt x="6311" y="5331895"/>
                    </a:lnTo>
                    <a:cubicBezTo>
                      <a:pt x="2173" y="5311674"/>
                      <a:pt x="0" y="5290737"/>
                      <a:pt x="0" y="5269292"/>
                    </a:cubicBez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alpha val="67000"/>
                    </a:schemeClr>
                  </a:gs>
                  <a:gs pos="4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13582103" flipH="1">
                <a:off x="1023379" y="677812"/>
                <a:ext cx="5074386" cy="5341164"/>
              </a:xfrm>
              <a:custGeom>
                <a:avLst/>
                <a:gdLst>
                  <a:gd name="connsiteX0" fmla="*/ 90981 w 5074386"/>
                  <a:gd name="connsiteY0" fmla="*/ 90982 h 5341164"/>
                  <a:gd name="connsiteX1" fmla="*/ 310630 w 5074386"/>
                  <a:gd name="connsiteY1" fmla="*/ 0 h 5341164"/>
                  <a:gd name="connsiteX2" fmla="*/ 4585982 w 5074386"/>
                  <a:gd name="connsiteY2" fmla="*/ 0 h 5341164"/>
                  <a:gd name="connsiteX3" fmla="*/ 5074386 w 5074386"/>
                  <a:gd name="connsiteY3" fmla="*/ 512308 h 5341164"/>
                  <a:gd name="connsiteX4" fmla="*/ 9188 w 5074386"/>
                  <a:gd name="connsiteY4" fmla="*/ 5341164 h 5341164"/>
                  <a:gd name="connsiteX5" fmla="*/ 6311 w 5074386"/>
                  <a:gd name="connsiteY5" fmla="*/ 5331895 h 5341164"/>
                  <a:gd name="connsiteX6" fmla="*/ 0 w 5074386"/>
                  <a:gd name="connsiteY6" fmla="*/ 5269292 h 5341164"/>
                  <a:gd name="connsiteX7" fmla="*/ 0 w 5074386"/>
                  <a:gd name="connsiteY7" fmla="*/ 310630 h 5341164"/>
                  <a:gd name="connsiteX8" fmla="*/ 90981 w 5074386"/>
                  <a:gd name="connsiteY8" fmla="*/ 90982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74386" h="5341164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85982" y="0"/>
                    </a:lnTo>
                    <a:lnTo>
                      <a:pt x="5074386" y="512308"/>
                    </a:lnTo>
                    <a:lnTo>
                      <a:pt x="9188" y="5341164"/>
                    </a:lnTo>
                    <a:lnTo>
                      <a:pt x="6311" y="5331895"/>
                    </a:lnTo>
                    <a:cubicBezTo>
                      <a:pt x="2173" y="5311674"/>
                      <a:pt x="0" y="5290737"/>
                      <a:pt x="0" y="5269292"/>
                    </a:cubicBez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55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 rot="13582103" flipH="1">
                <a:off x="1142763" y="855060"/>
                <a:ext cx="4932906" cy="5089389"/>
              </a:xfrm>
              <a:custGeom>
                <a:avLst/>
                <a:gdLst>
                  <a:gd name="connsiteX0" fmla="*/ 90981 w 4932906"/>
                  <a:gd name="connsiteY0" fmla="*/ 90982 h 5089389"/>
                  <a:gd name="connsiteX1" fmla="*/ 310630 w 4932906"/>
                  <a:gd name="connsiteY1" fmla="*/ 0 h 5089389"/>
                  <a:gd name="connsiteX2" fmla="*/ 4564295 w 4932906"/>
                  <a:gd name="connsiteY2" fmla="*/ 0 h 5089389"/>
                  <a:gd name="connsiteX3" fmla="*/ 4932906 w 4932906"/>
                  <a:gd name="connsiteY3" fmla="*/ 386653 h 5089389"/>
                  <a:gd name="connsiteX4" fmla="*/ 0 w 4932906"/>
                  <a:gd name="connsiteY4" fmla="*/ 5089389 h 5089389"/>
                  <a:gd name="connsiteX5" fmla="*/ 0 w 4932906"/>
                  <a:gd name="connsiteY5" fmla="*/ 310630 h 5089389"/>
                  <a:gd name="connsiteX6" fmla="*/ 90981 w 4932906"/>
                  <a:gd name="connsiteY6" fmla="*/ 90982 h 5089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32906" h="5089389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64295" y="0"/>
                    </a:lnTo>
                    <a:lnTo>
                      <a:pt x="4932906" y="386653"/>
                    </a:lnTo>
                    <a:lnTo>
                      <a:pt x="0" y="5089389"/>
                    </a:ln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4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 22"/>
              <p:cNvSpPr/>
              <p:nvPr/>
            </p:nvSpPr>
            <p:spPr>
              <a:xfrm rot="13582103" flipH="1">
                <a:off x="1880889" y="1198201"/>
                <a:ext cx="4238753" cy="4461599"/>
              </a:xfrm>
              <a:custGeom>
                <a:avLst/>
                <a:gdLst>
                  <a:gd name="connsiteX0" fmla="*/ 90981 w 5074386"/>
                  <a:gd name="connsiteY0" fmla="*/ 90982 h 5341164"/>
                  <a:gd name="connsiteX1" fmla="*/ 310630 w 5074386"/>
                  <a:gd name="connsiteY1" fmla="*/ 0 h 5341164"/>
                  <a:gd name="connsiteX2" fmla="*/ 4585982 w 5074386"/>
                  <a:gd name="connsiteY2" fmla="*/ 0 h 5341164"/>
                  <a:gd name="connsiteX3" fmla="*/ 5074386 w 5074386"/>
                  <a:gd name="connsiteY3" fmla="*/ 512308 h 5341164"/>
                  <a:gd name="connsiteX4" fmla="*/ 9188 w 5074386"/>
                  <a:gd name="connsiteY4" fmla="*/ 5341164 h 5341164"/>
                  <a:gd name="connsiteX5" fmla="*/ 6311 w 5074386"/>
                  <a:gd name="connsiteY5" fmla="*/ 5331895 h 5341164"/>
                  <a:gd name="connsiteX6" fmla="*/ 0 w 5074386"/>
                  <a:gd name="connsiteY6" fmla="*/ 5269292 h 5341164"/>
                  <a:gd name="connsiteX7" fmla="*/ 0 w 5074386"/>
                  <a:gd name="connsiteY7" fmla="*/ 310630 h 5341164"/>
                  <a:gd name="connsiteX8" fmla="*/ 90981 w 5074386"/>
                  <a:gd name="connsiteY8" fmla="*/ 90982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74386" h="5341164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85982" y="0"/>
                    </a:lnTo>
                    <a:lnTo>
                      <a:pt x="5074386" y="512308"/>
                    </a:lnTo>
                    <a:lnTo>
                      <a:pt x="9188" y="5341164"/>
                    </a:lnTo>
                    <a:lnTo>
                      <a:pt x="6311" y="5331895"/>
                    </a:lnTo>
                    <a:cubicBezTo>
                      <a:pt x="2173" y="5311674"/>
                      <a:pt x="0" y="5290737"/>
                      <a:pt x="0" y="5269292"/>
                    </a:cubicBez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alpha val="67000"/>
                    </a:schemeClr>
                  </a:gs>
                  <a:gs pos="4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11147928" y="6256382"/>
                <a:ext cx="411013" cy="228983"/>
                <a:chOff x="11147928" y="6256382"/>
                <a:chExt cx="411013" cy="228983"/>
              </a:xfrm>
            </p:grpSpPr>
            <p:sp>
              <p:nvSpPr>
                <p:cNvPr id="26" name="乘号 25"/>
                <p:cNvSpPr/>
                <p:nvPr/>
              </p:nvSpPr>
              <p:spPr>
                <a:xfrm rot="16200000">
                  <a:off x="11147928" y="6256382"/>
                  <a:ext cx="228983" cy="228983"/>
                </a:xfrm>
                <a:prstGeom prst="mathMultiply">
                  <a:avLst>
                    <a:gd name="adj1" fmla="val 13121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乘号 26"/>
                <p:cNvSpPr/>
                <p:nvPr/>
              </p:nvSpPr>
              <p:spPr>
                <a:xfrm>
                  <a:off x="11334211" y="6261425"/>
                  <a:ext cx="224730" cy="218895"/>
                </a:xfrm>
                <a:prstGeom prst="mathMultiply">
                  <a:avLst>
                    <a:gd name="adj1" fmla="val 18164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61670" y="6310147"/>
                <a:ext cx="175483" cy="121452"/>
                <a:chOff x="3048000" y="-558800"/>
                <a:chExt cx="477100" cy="330200"/>
              </a:xfrm>
            </p:grpSpPr>
            <p:sp>
              <p:nvSpPr>
                <p:cNvPr id="29" name="椭圆 28"/>
                <p:cNvSpPr/>
                <p:nvPr/>
              </p:nvSpPr>
              <p:spPr>
                <a:xfrm>
                  <a:off x="3194900" y="-558800"/>
                  <a:ext cx="330200" cy="330200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3048000" y="-558800"/>
                  <a:ext cx="330200" cy="330200"/>
                </a:xfrm>
                <a:prstGeom prst="ellipse">
                  <a:avLst/>
                </a:prstGeom>
                <a:gradFill>
                  <a:gsLst>
                    <a:gs pos="483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0796748" y="541050"/>
                <a:ext cx="722152" cy="106965"/>
                <a:chOff x="10796748" y="541050"/>
                <a:chExt cx="722152" cy="106965"/>
              </a:xfrm>
            </p:grpSpPr>
            <p:sp>
              <p:nvSpPr>
                <p:cNvPr id="32" name="椭圆 31"/>
                <p:cNvSpPr>
                  <a:spLocks noChangeArrowheads="1"/>
                </p:cNvSpPr>
                <p:nvPr/>
              </p:nvSpPr>
              <p:spPr bwMode="auto">
                <a:xfrm rot="10800000">
                  <a:off x="11409192" y="541050"/>
                  <a:ext cx="109708" cy="10696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椭圆 32"/>
                <p:cNvSpPr>
                  <a:spLocks noChangeArrowheads="1"/>
                </p:cNvSpPr>
                <p:nvPr/>
              </p:nvSpPr>
              <p:spPr bwMode="auto">
                <a:xfrm rot="10800000">
                  <a:off x="11205046" y="541050"/>
                  <a:ext cx="109708" cy="10696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椭圆 33"/>
                <p:cNvSpPr>
                  <a:spLocks noChangeArrowheads="1"/>
                </p:cNvSpPr>
                <p:nvPr/>
              </p:nvSpPr>
              <p:spPr bwMode="auto">
                <a:xfrm rot="10800000">
                  <a:off x="11000898" y="541050"/>
                  <a:ext cx="109708" cy="10696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椭圆 34"/>
                <p:cNvSpPr>
                  <a:spLocks noChangeArrowheads="1"/>
                </p:cNvSpPr>
                <p:nvPr/>
              </p:nvSpPr>
              <p:spPr bwMode="auto">
                <a:xfrm rot="10800000">
                  <a:off x="10796748" y="541050"/>
                  <a:ext cx="109708" cy="10696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38" name="直接连接符 37"/>
              <p:cNvCxnSpPr/>
              <p:nvPr/>
            </p:nvCxnSpPr>
            <p:spPr>
              <a:xfrm>
                <a:off x="941388" y="6384440"/>
                <a:ext cx="10222621" cy="0"/>
              </a:xfrm>
              <a:prstGeom prst="line">
                <a:avLst/>
              </a:prstGeom>
              <a:ln w="635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gradFill flip="none" rotWithShape="1">
          <a:gsLst>
            <a:gs pos="0">
              <a:schemeClr val="bg1"/>
            </a:gs>
            <a:gs pos="100000">
              <a:schemeClr val="accent1">
                <a:lumMod val="20000"/>
                <a:lumOff val="80000"/>
                <a:alpha val="40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 hasCustomPrompt="1"/>
          </p:nvPr>
        </p:nvSpPr>
        <p:spPr>
          <a:xfrm>
            <a:off x="686535" y="1694047"/>
            <a:ext cx="6290528" cy="1659718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5219861"/>
            <a:ext cx="6300788" cy="288000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676275" y="5590968"/>
            <a:ext cx="6300788" cy="295221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661670" y="-2043291"/>
            <a:ext cx="11772206" cy="11383301"/>
            <a:chOff x="661670" y="-2043291"/>
            <a:chExt cx="11772206" cy="11383301"/>
          </a:xfrm>
        </p:grpSpPr>
        <p:sp>
          <p:nvSpPr>
            <p:cNvPr id="18" name="任意多边形 17"/>
            <p:cNvSpPr/>
            <p:nvPr/>
          </p:nvSpPr>
          <p:spPr>
            <a:xfrm rot="18982103" flipV="1">
              <a:off x="7703920" y="-2043291"/>
              <a:ext cx="4169770" cy="5341164"/>
            </a:xfrm>
            <a:custGeom>
              <a:avLst/>
              <a:gdLst>
                <a:gd name="connsiteX0" fmla="*/ 9188 w 4169770"/>
                <a:gd name="connsiteY0" fmla="*/ 5341164 h 5341164"/>
                <a:gd name="connsiteX1" fmla="*/ 4169770 w 4169770"/>
                <a:gd name="connsiteY1" fmla="*/ 1374715 h 5341164"/>
                <a:gd name="connsiteX2" fmla="*/ 2859199 w 4169770"/>
                <a:gd name="connsiteY2" fmla="*/ 0 h 5341164"/>
                <a:gd name="connsiteX3" fmla="*/ 310630 w 4169770"/>
                <a:gd name="connsiteY3" fmla="*/ 0 h 5341164"/>
                <a:gd name="connsiteX4" fmla="*/ 90981 w 4169770"/>
                <a:gd name="connsiteY4" fmla="*/ 90982 h 5341164"/>
                <a:gd name="connsiteX5" fmla="*/ 0 w 4169770"/>
                <a:gd name="connsiteY5" fmla="*/ 310630 h 5341164"/>
                <a:gd name="connsiteX6" fmla="*/ 0 w 4169770"/>
                <a:gd name="connsiteY6" fmla="*/ 5269292 h 5341164"/>
                <a:gd name="connsiteX7" fmla="*/ 6311 w 4169770"/>
                <a:gd name="connsiteY7" fmla="*/ 5331895 h 534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69770" h="5341164">
                  <a:moveTo>
                    <a:pt x="9188" y="5341164"/>
                  </a:moveTo>
                  <a:lnTo>
                    <a:pt x="4169770" y="1374715"/>
                  </a:lnTo>
                  <a:lnTo>
                    <a:pt x="2859199" y="0"/>
                  </a:lnTo>
                  <a:lnTo>
                    <a:pt x="310630" y="0"/>
                  </a:lnTo>
                  <a:cubicBezTo>
                    <a:pt x="224853" y="0"/>
                    <a:pt x="147195" y="34768"/>
                    <a:pt x="90981" y="90982"/>
                  </a:cubicBezTo>
                  <a:cubicBezTo>
                    <a:pt x="34769" y="147194"/>
                    <a:pt x="0" y="224852"/>
                    <a:pt x="0" y="310630"/>
                  </a:cubicBezTo>
                  <a:lnTo>
                    <a:pt x="0" y="5269292"/>
                  </a:lnTo>
                  <a:cubicBezTo>
                    <a:pt x="0" y="5290737"/>
                    <a:pt x="2173" y="5311674"/>
                    <a:pt x="6311" y="5331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58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auto">
            <a:xfrm rot="10800000">
              <a:off x="11409192" y="541050"/>
              <a:ext cx="109708" cy="106965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auto">
            <a:xfrm rot="10800000">
              <a:off x="11205046" y="541050"/>
              <a:ext cx="109708" cy="1069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auto">
            <a:xfrm rot="10800000">
              <a:off x="11000898" y="541050"/>
              <a:ext cx="109708" cy="106965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auto">
            <a:xfrm rot="10800000">
              <a:off x="10796748" y="541050"/>
              <a:ext cx="109708" cy="1069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 rot="18982103" flipV="1">
              <a:off x="10044816" y="-1291468"/>
              <a:ext cx="2389060" cy="4299921"/>
            </a:xfrm>
            <a:custGeom>
              <a:avLst/>
              <a:gdLst>
                <a:gd name="connsiteX0" fmla="*/ 2389060 w 2389060"/>
                <a:gd name="connsiteY0" fmla="*/ 2022336 h 4299921"/>
                <a:gd name="connsiteX1" fmla="*/ 461086 w 2389060"/>
                <a:gd name="connsiteY1" fmla="*/ 0 h 4299921"/>
                <a:gd name="connsiteX2" fmla="*/ 310630 w 2389060"/>
                <a:gd name="connsiteY2" fmla="*/ 0 h 4299921"/>
                <a:gd name="connsiteX3" fmla="*/ 90981 w 2389060"/>
                <a:gd name="connsiteY3" fmla="*/ 90982 h 4299921"/>
                <a:gd name="connsiteX4" fmla="*/ 0 w 2389060"/>
                <a:gd name="connsiteY4" fmla="*/ 310630 h 4299921"/>
                <a:gd name="connsiteX5" fmla="*/ 0 w 2389060"/>
                <a:gd name="connsiteY5" fmla="*/ 4299921 h 429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9060" h="4299921">
                  <a:moveTo>
                    <a:pt x="2389060" y="2022336"/>
                  </a:moveTo>
                  <a:lnTo>
                    <a:pt x="461086" y="0"/>
                  </a:lnTo>
                  <a:lnTo>
                    <a:pt x="310630" y="0"/>
                  </a:lnTo>
                  <a:cubicBezTo>
                    <a:pt x="224853" y="0"/>
                    <a:pt x="147195" y="34768"/>
                    <a:pt x="90981" y="90982"/>
                  </a:cubicBezTo>
                  <a:cubicBezTo>
                    <a:pt x="34769" y="147194"/>
                    <a:pt x="0" y="224852"/>
                    <a:pt x="0" y="310630"/>
                  </a:cubicBezTo>
                  <a:lnTo>
                    <a:pt x="0" y="42999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58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329159" y="3998846"/>
              <a:ext cx="5634572" cy="5341164"/>
              <a:chOff x="6329159" y="3998846"/>
              <a:chExt cx="5634572" cy="5341164"/>
            </a:xfrm>
          </p:grpSpPr>
          <p:sp>
            <p:nvSpPr>
              <p:cNvPr id="10" name="任意多边形 9"/>
              <p:cNvSpPr/>
              <p:nvPr/>
            </p:nvSpPr>
            <p:spPr>
              <a:xfrm rot="2617897">
                <a:off x="8670055" y="4288266"/>
                <a:ext cx="3293676" cy="4299921"/>
              </a:xfrm>
              <a:custGeom>
                <a:avLst/>
                <a:gdLst>
                  <a:gd name="connsiteX0" fmla="*/ 90981 w 3293676"/>
                  <a:gd name="connsiteY0" fmla="*/ 90982 h 4299921"/>
                  <a:gd name="connsiteX1" fmla="*/ 310630 w 3293676"/>
                  <a:gd name="connsiteY1" fmla="*/ 0 h 4299921"/>
                  <a:gd name="connsiteX2" fmla="*/ 2187869 w 3293676"/>
                  <a:gd name="connsiteY2" fmla="*/ 0 h 4299921"/>
                  <a:gd name="connsiteX3" fmla="*/ 3293676 w 3293676"/>
                  <a:gd name="connsiteY3" fmla="*/ 1159929 h 4299921"/>
                  <a:gd name="connsiteX4" fmla="*/ 0 w 3293676"/>
                  <a:gd name="connsiteY4" fmla="*/ 4299921 h 4299921"/>
                  <a:gd name="connsiteX5" fmla="*/ 0 w 3293676"/>
                  <a:gd name="connsiteY5" fmla="*/ 310630 h 4299921"/>
                  <a:gd name="connsiteX6" fmla="*/ 90981 w 3293676"/>
                  <a:gd name="connsiteY6" fmla="*/ 90982 h 429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93676" h="4299921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2187869" y="0"/>
                    </a:lnTo>
                    <a:lnTo>
                      <a:pt x="3293676" y="1159929"/>
                    </a:lnTo>
                    <a:lnTo>
                      <a:pt x="0" y="4299921"/>
                    </a:ln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 rot="2617897">
                <a:off x="6329159" y="3998846"/>
                <a:ext cx="5074386" cy="5341164"/>
              </a:xfrm>
              <a:custGeom>
                <a:avLst/>
                <a:gdLst>
                  <a:gd name="connsiteX0" fmla="*/ 90981 w 5074386"/>
                  <a:gd name="connsiteY0" fmla="*/ 90982 h 5341164"/>
                  <a:gd name="connsiteX1" fmla="*/ 310630 w 5074386"/>
                  <a:gd name="connsiteY1" fmla="*/ 0 h 5341164"/>
                  <a:gd name="connsiteX2" fmla="*/ 4585982 w 5074386"/>
                  <a:gd name="connsiteY2" fmla="*/ 0 h 5341164"/>
                  <a:gd name="connsiteX3" fmla="*/ 5074386 w 5074386"/>
                  <a:gd name="connsiteY3" fmla="*/ 512308 h 5341164"/>
                  <a:gd name="connsiteX4" fmla="*/ 9188 w 5074386"/>
                  <a:gd name="connsiteY4" fmla="*/ 5341164 h 5341164"/>
                  <a:gd name="connsiteX5" fmla="*/ 6311 w 5074386"/>
                  <a:gd name="connsiteY5" fmla="*/ 5331895 h 5341164"/>
                  <a:gd name="connsiteX6" fmla="*/ 0 w 5074386"/>
                  <a:gd name="connsiteY6" fmla="*/ 5269292 h 5341164"/>
                  <a:gd name="connsiteX7" fmla="*/ 0 w 5074386"/>
                  <a:gd name="connsiteY7" fmla="*/ 310630 h 5341164"/>
                  <a:gd name="connsiteX8" fmla="*/ 90981 w 5074386"/>
                  <a:gd name="connsiteY8" fmla="*/ 90982 h 5341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74386" h="5341164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85982" y="0"/>
                    </a:lnTo>
                    <a:lnTo>
                      <a:pt x="5074386" y="512308"/>
                    </a:lnTo>
                    <a:lnTo>
                      <a:pt x="9188" y="5341164"/>
                    </a:lnTo>
                    <a:lnTo>
                      <a:pt x="6311" y="5331895"/>
                    </a:lnTo>
                    <a:cubicBezTo>
                      <a:pt x="2173" y="5311674"/>
                      <a:pt x="0" y="5290737"/>
                      <a:pt x="0" y="5269292"/>
                    </a:cubicBez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 rot="2617897">
                <a:off x="6451259" y="4173378"/>
                <a:ext cx="4932906" cy="5089389"/>
              </a:xfrm>
              <a:custGeom>
                <a:avLst/>
                <a:gdLst>
                  <a:gd name="connsiteX0" fmla="*/ 90981 w 4932906"/>
                  <a:gd name="connsiteY0" fmla="*/ 90982 h 5089389"/>
                  <a:gd name="connsiteX1" fmla="*/ 310630 w 4932906"/>
                  <a:gd name="connsiteY1" fmla="*/ 0 h 5089389"/>
                  <a:gd name="connsiteX2" fmla="*/ 4564295 w 4932906"/>
                  <a:gd name="connsiteY2" fmla="*/ 0 h 5089389"/>
                  <a:gd name="connsiteX3" fmla="*/ 4932906 w 4932906"/>
                  <a:gd name="connsiteY3" fmla="*/ 386653 h 5089389"/>
                  <a:gd name="connsiteX4" fmla="*/ 0 w 4932906"/>
                  <a:gd name="connsiteY4" fmla="*/ 5089389 h 5089389"/>
                  <a:gd name="connsiteX5" fmla="*/ 0 w 4932906"/>
                  <a:gd name="connsiteY5" fmla="*/ 310630 h 5089389"/>
                  <a:gd name="connsiteX6" fmla="*/ 90981 w 4932906"/>
                  <a:gd name="connsiteY6" fmla="*/ 90982 h 5089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32906" h="5089389">
                    <a:moveTo>
                      <a:pt x="90981" y="90982"/>
                    </a:moveTo>
                    <a:cubicBezTo>
                      <a:pt x="147195" y="34768"/>
                      <a:pt x="224853" y="0"/>
                      <a:pt x="310630" y="0"/>
                    </a:cubicBezTo>
                    <a:lnTo>
                      <a:pt x="4564295" y="0"/>
                    </a:lnTo>
                    <a:lnTo>
                      <a:pt x="4932906" y="386653"/>
                    </a:lnTo>
                    <a:lnTo>
                      <a:pt x="0" y="5089389"/>
                    </a:lnTo>
                    <a:lnTo>
                      <a:pt x="0" y="310630"/>
                    </a:lnTo>
                    <a:cubicBezTo>
                      <a:pt x="0" y="224852"/>
                      <a:pt x="34769" y="147194"/>
                      <a:pt x="90981" y="90982"/>
                    </a:cubicBezTo>
                    <a:close/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66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任意多边形 16"/>
            <p:cNvSpPr/>
            <p:nvPr/>
          </p:nvSpPr>
          <p:spPr>
            <a:xfrm rot="18982103" flipV="1">
              <a:off x="8004634" y="-1555547"/>
              <a:ext cx="3821925" cy="4698080"/>
            </a:xfrm>
            <a:custGeom>
              <a:avLst/>
              <a:gdLst>
                <a:gd name="connsiteX0" fmla="*/ 3821925 w 3821925"/>
                <a:gd name="connsiteY0" fmla="*/ 1054487 h 4698080"/>
                <a:gd name="connsiteX1" fmla="*/ 2816640 w 3821925"/>
                <a:gd name="connsiteY1" fmla="*/ 0 h 4698080"/>
                <a:gd name="connsiteX2" fmla="*/ 286746 w 3821925"/>
                <a:gd name="connsiteY2" fmla="*/ 0 h 4698080"/>
                <a:gd name="connsiteX3" fmla="*/ 83986 w 3821925"/>
                <a:gd name="connsiteY3" fmla="*/ 83987 h 4698080"/>
                <a:gd name="connsiteX4" fmla="*/ 0 w 3821925"/>
                <a:gd name="connsiteY4" fmla="*/ 286747 h 4698080"/>
                <a:gd name="connsiteX5" fmla="*/ 0 w 3821925"/>
                <a:gd name="connsiteY5" fmla="*/ 4698080 h 4698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1925" h="4698080">
                  <a:moveTo>
                    <a:pt x="3821925" y="1054487"/>
                  </a:moveTo>
                  <a:lnTo>
                    <a:pt x="2816640" y="0"/>
                  </a:lnTo>
                  <a:lnTo>
                    <a:pt x="286746" y="0"/>
                  </a:lnTo>
                  <a:cubicBezTo>
                    <a:pt x="207565" y="0"/>
                    <a:pt x="135878" y="32095"/>
                    <a:pt x="83986" y="83987"/>
                  </a:cubicBezTo>
                  <a:cubicBezTo>
                    <a:pt x="32096" y="135876"/>
                    <a:pt x="0" y="207564"/>
                    <a:pt x="0" y="286747"/>
                  </a:cubicBezTo>
                  <a:lnTo>
                    <a:pt x="0" y="4698080"/>
                  </a:lnTo>
                  <a:close/>
                </a:path>
              </a:pathLst>
            </a:custGeom>
            <a:noFill/>
            <a:ln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66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11147928" y="6256382"/>
              <a:ext cx="411013" cy="228983"/>
              <a:chOff x="11147928" y="6256382"/>
              <a:chExt cx="411013" cy="228983"/>
            </a:xfrm>
          </p:grpSpPr>
          <p:sp>
            <p:nvSpPr>
              <p:cNvPr id="21" name="乘号 20"/>
              <p:cNvSpPr/>
              <p:nvPr/>
            </p:nvSpPr>
            <p:spPr>
              <a:xfrm rot="16200000">
                <a:off x="11147928" y="6256382"/>
                <a:ext cx="228983" cy="228983"/>
              </a:xfrm>
              <a:prstGeom prst="mathMultiply">
                <a:avLst>
                  <a:gd name="adj1" fmla="val 1312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乘号 21"/>
              <p:cNvSpPr/>
              <p:nvPr/>
            </p:nvSpPr>
            <p:spPr>
              <a:xfrm>
                <a:off x="11334211" y="6261425"/>
                <a:ext cx="224730" cy="218895"/>
              </a:xfrm>
              <a:prstGeom prst="mathMultiply">
                <a:avLst>
                  <a:gd name="adj1" fmla="val 18164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61670" y="6310147"/>
              <a:ext cx="175483" cy="121452"/>
              <a:chOff x="3048000" y="-558800"/>
              <a:chExt cx="477100" cy="3302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194900" y="-558800"/>
                <a:ext cx="330200" cy="33020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3048000" y="-558800"/>
                <a:ext cx="330200" cy="330200"/>
              </a:xfrm>
              <a:prstGeom prst="ellipse">
                <a:avLst/>
              </a:prstGeom>
              <a:gradFill>
                <a:gsLst>
                  <a:gs pos="483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path path="circle">
                  <a:fillToRect r="100000" b="10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941388" y="6384440"/>
              <a:ext cx="10222621" cy="0"/>
            </a:xfrm>
            <a:prstGeom prst="line">
              <a:avLst/>
            </a:prstGeom>
            <a:ln w="6350">
              <a:solidFill>
                <a:schemeClr val="tx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accent1">
                <a:lumMod val="20000"/>
                <a:lumOff val="80000"/>
                <a:alpha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274900" y="1"/>
            <a:ext cx="12466899" cy="1130300"/>
            <a:chOff x="-274900" y="1"/>
            <a:chExt cx="12466899" cy="1130300"/>
          </a:xfrm>
        </p:grpSpPr>
        <p:sp>
          <p:nvSpPr>
            <p:cNvPr id="9" name="单圆角矩形 8"/>
            <p:cNvSpPr/>
            <p:nvPr/>
          </p:nvSpPr>
          <p:spPr>
            <a:xfrm flipV="1">
              <a:off x="0" y="1"/>
              <a:ext cx="12191999" cy="1130300"/>
            </a:xfrm>
            <a:prstGeom prst="round1Rect">
              <a:avLst>
                <a:gd name="adj" fmla="val 50000"/>
              </a:avLst>
            </a:prstGeom>
            <a:gradFill flip="none" rotWithShape="1">
              <a:gsLst>
                <a:gs pos="511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/>
            <p:cNvSpPr>
              <a:spLocks noChangeArrowheads="1"/>
            </p:cNvSpPr>
            <p:nvPr/>
          </p:nvSpPr>
          <p:spPr bwMode="auto">
            <a:xfrm rot="10800000">
              <a:off x="11409192" y="541050"/>
              <a:ext cx="109708" cy="106965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椭圆 18"/>
            <p:cNvSpPr>
              <a:spLocks noChangeArrowheads="1"/>
            </p:cNvSpPr>
            <p:nvPr/>
          </p:nvSpPr>
          <p:spPr bwMode="auto">
            <a:xfrm rot="10800000">
              <a:off x="11205046" y="541050"/>
              <a:ext cx="109708" cy="106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auto">
            <a:xfrm rot="10800000">
              <a:off x="11000898" y="541050"/>
              <a:ext cx="109708" cy="106965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auto">
            <a:xfrm rot="10800000">
              <a:off x="10796748" y="541050"/>
              <a:ext cx="109708" cy="106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-274900" y="370186"/>
              <a:ext cx="792418" cy="599570"/>
              <a:chOff x="-300300" y="352724"/>
              <a:chExt cx="792418" cy="599570"/>
            </a:xfrm>
          </p:grpSpPr>
          <p:sp>
            <p:nvSpPr>
              <p:cNvPr id="25" name="任意多边形 24"/>
              <p:cNvSpPr/>
              <p:nvPr/>
            </p:nvSpPr>
            <p:spPr>
              <a:xfrm rot="13582103" flipV="1">
                <a:off x="-176058" y="284117"/>
                <a:ext cx="585882" cy="750471"/>
              </a:xfrm>
              <a:custGeom>
                <a:avLst/>
                <a:gdLst>
                  <a:gd name="connsiteX0" fmla="*/ 578003 w 585882"/>
                  <a:gd name="connsiteY0" fmla="*/ 7878 h 750471"/>
                  <a:gd name="connsiteX1" fmla="*/ 558984 w 585882"/>
                  <a:gd name="connsiteY1" fmla="*/ 0 h 750471"/>
                  <a:gd name="connsiteX2" fmla="*/ 26898 w 585882"/>
                  <a:gd name="connsiteY2" fmla="*/ 0 h 750471"/>
                  <a:gd name="connsiteX3" fmla="*/ 0 w 585882"/>
                  <a:gd name="connsiteY3" fmla="*/ 26898 h 750471"/>
                  <a:gd name="connsiteX4" fmla="*/ 0 w 585882"/>
                  <a:gd name="connsiteY4" fmla="*/ 723573 h 750471"/>
                  <a:gd name="connsiteX5" fmla="*/ 26898 w 585882"/>
                  <a:gd name="connsiteY5" fmla="*/ 750471 h 750471"/>
                  <a:gd name="connsiteX6" fmla="*/ 68731 w 585882"/>
                  <a:gd name="connsiteY6" fmla="*/ 750471 h 750471"/>
                  <a:gd name="connsiteX7" fmla="*/ 585882 w 585882"/>
                  <a:gd name="connsiteY7" fmla="*/ 257450 h 750471"/>
                  <a:gd name="connsiteX8" fmla="*/ 585882 w 585882"/>
                  <a:gd name="connsiteY8" fmla="*/ 26898 h 750471"/>
                  <a:gd name="connsiteX9" fmla="*/ 578003 w 585882"/>
                  <a:gd name="connsiteY9" fmla="*/ 7878 h 750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882" h="750471">
                    <a:moveTo>
                      <a:pt x="578003" y="7878"/>
                    </a:moveTo>
                    <a:cubicBezTo>
                      <a:pt x="573136" y="3011"/>
                      <a:pt x="566411" y="0"/>
                      <a:pt x="558984" y="0"/>
                    </a:cubicBezTo>
                    <a:lnTo>
                      <a:pt x="26898" y="0"/>
                    </a:lnTo>
                    <a:cubicBezTo>
                      <a:pt x="12043" y="0"/>
                      <a:pt x="0" y="12043"/>
                      <a:pt x="0" y="26898"/>
                    </a:cubicBezTo>
                    <a:lnTo>
                      <a:pt x="0" y="723573"/>
                    </a:lnTo>
                    <a:cubicBezTo>
                      <a:pt x="0" y="738428"/>
                      <a:pt x="12043" y="750471"/>
                      <a:pt x="26898" y="750471"/>
                    </a:cubicBezTo>
                    <a:lnTo>
                      <a:pt x="68731" y="750471"/>
                    </a:lnTo>
                    <a:lnTo>
                      <a:pt x="585882" y="257450"/>
                    </a:lnTo>
                    <a:lnTo>
                      <a:pt x="585882" y="26898"/>
                    </a:lnTo>
                    <a:cubicBezTo>
                      <a:pt x="585882" y="19470"/>
                      <a:pt x="582871" y="12746"/>
                      <a:pt x="578003" y="787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alpha val="56000"/>
                    </a:schemeClr>
                  </a:gs>
                  <a:gs pos="58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rot="13582103" flipV="1">
                <a:off x="-237841" y="290265"/>
                <a:ext cx="585882" cy="710799"/>
              </a:xfrm>
              <a:custGeom>
                <a:avLst/>
                <a:gdLst>
                  <a:gd name="connsiteX0" fmla="*/ 578003 w 585882"/>
                  <a:gd name="connsiteY0" fmla="*/ 7878 h 710799"/>
                  <a:gd name="connsiteX1" fmla="*/ 558984 w 585882"/>
                  <a:gd name="connsiteY1" fmla="*/ 0 h 710799"/>
                  <a:gd name="connsiteX2" fmla="*/ 26898 w 585882"/>
                  <a:gd name="connsiteY2" fmla="*/ 0 h 710799"/>
                  <a:gd name="connsiteX3" fmla="*/ 0 w 585882"/>
                  <a:gd name="connsiteY3" fmla="*/ 26898 h 710799"/>
                  <a:gd name="connsiteX4" fmla="*/ 0 w 585882"/>
                  <a:gd name="connsiteY4" fmla="*/ 710799 h 710799"/>
                  <a:gd name="connsiteX5" fmla="*/ 585882 w 585882"/>
                  <a:gd name="connsiteY5" fmla="*/ 152254 h 710799"/>
                  <a:gd name="connsiteX6" fmla="*/ 585882 w 585882"/>
                  <a:gd name="connsiteY6" fmla="*/ 26898 h 710799"/>
                  <a:gd name="connsiteX7" fmla="*/ 578003 w 585882"/>
                  <a:gd name="connsiteY7" fmla="*/ 7878 h 710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5882" h="710799">
                    <a:moveTo>
                      <a:pt x="578003" y="7878"/>
                    </a:moveTo>
                    <a:cubicBezTo>
                      <a:pt x="573136" y="3011"/>
                      <a:pt x="566411" y="0"/>
                      <a:pt x="558984" y="0"/>
                    </a:cubicBezTo>
                    <a:lnTo>
                      <a:pt x="26898" y="0"/>
                    </a:lnTo>
                    <a:cubicBezTo>
                      <a:pt x="12043" y="0"/>
                      <a:pt x="0" y="12043"/>
                      <a:pt x="0" y="26898"/>
                    </a:cubicBezTo>
                    <a:lnTo>
                      <a:pt x="0" y="710799"/>
                    </a:lnTo>
                    <a:lnTo>
                      <a:pt x="585882" y="152254"/>
                    </a:lnTo>
                    <a:lnTo>
                      <a:pt x="585882" y="26898"/>
                    </a:lnTo>
                    <a:cubicBezTo>
                      <a:pt x="585882" y="19470"/>
                      <a:pt x="582871" y="12746"/>
                      <a:pt x="578003" y="7878"/>
                    </a:cubicBezTo>
                    <a:close/>
                  </a:path>
                </a:pathLst>
              </a:custGeom>
              <a:noFill/>
              <a:ln w="3175">
                <a:gradFill flip="none" rotWithShape="1">
                  <a:gsLst>
                    <a:gs pos="0">
                      <a:schemeClr val="bg1"/>
                    </a:gs>
                    <a:gs pos="41000">
                      <a:schemeClr val="bg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7" Type="http://schemas.openxmlformats.org/officeDocument/2006/relationships/slideLayout" Target="../slideLayouts/slideLayout5.xml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9.webp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jpeg"/><Relationship Id="rId13" Type="http://schemas.openxmlformats.org/officeDocument/2006/relationships/image" Target="../media/image4.jpe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45.xml"/><Relationship Id="rId7" Type="http://schemas.openxmlformats.org/officeDocument/2006/relationships/image" Target="../media/image11.png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../media/image10.pn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46.xml"/><Relationship Id="rId1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image" Target="../media/image12.png"/><Relationship Id="rId3" Type="http://schemas.openxmlformats.org/officeDocument/2006/relationships/image" Target="../media/image18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19.png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2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9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106.xml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tags" Target="../tags/tag9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8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image" Target="../media/image35.png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滨江区数据要素</a:t>
            </a:r>
            <a:br>
              <a:rPr lang="en-US" altLang="zh-CN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产业发展研究</a:t>
            </a: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</a:t>
            </a:r>
            <a:endParaRPr lang="zh-CN" altLang="en-US" sz="6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Autofit/>
          </a:bodyPr>
          <a:lstStyle/>
          <a:p>
            <a:r>
              <a:rPr lang="en-US" sz="1600" b="1"/>
              <a:t>2025.12.24</a:t>
            </a:r>
            <a:endParaRPr lang="en-US" sz="1600" b="1"/>
          </a:p>
        </p:txBody>
      </p:sp>
      <p:sp>
        <p:nvSpPr>
          <p:cNvPr id="2" name="文本占位符 1"/>
          <p:cNvSpPr/>
          <p:nvPr>
            <p:ph type="body" sz="quarter" idx="13"/>
          </p:nvPr>
        </p:nvSpPr>
        <p:spPr>
          <a:xfrm>
            <a:off x="680720" y="4794250"/>
            <a:ext cx="6734175" cy="288290"/>
          </a:xfrm>
        </p:spPr>
        <p:txBody>
          <a:bodyPr>
            <a:noAutofit/>
          </a:bodyPr>
          <a:p>
            <a:r>
              <a:rPr lang="zh-CN" altLang="en-US" sz="1600" b="1"/>
              <a:t>叶焱林</a:t>
            </a:r>
            <a:endParaRPr lang="zh-CN" altLang="en-US" sz="1600" b="1"/>
          </a:p>
        </p:txBody>
      </p:sp>
      <p:sp>
        <p:nvSpPr>
          <p:cNvPr id="5" name="副标题 4"/>
          <p:cNvSpPr/>
          <p:nvPr>
            <p:ph type="subTitle" sz="quarter" idx="1"/>
          </p:nvPr>
        </p:nvSpPr>
        <p:spPr/>
        <p:txBody>
          <a:bodyPr/>
          <a:p>
            <a:r>
              <a:rPr lang="zh-CN" altLang="en-US" sz="2400"/>
              <a:t>基于</a:t>
            </a:r>
            <a:r>
              <a:rPr lang="en-US" altLang="zh-CN" sz="2400"/>
              <a:t>37</a:t>
            </a:r>
            <a:r>
              <a:rPr lang="zh-CN" altLang="en-US" sz="2400"/>
              <a:t>家核心企业的实证研究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302935" y="1392205"/>
            <a:ext cx="9263403" cy="3939253"/>
            <a:chOff x="1926521" y="1320801"/>
            <a:chExt cx="9279047" cy="3939253"/>
          </a:xfrm>
        </p:grpSpPr>
        <p:grpSp>
          <p:nvGrpSpPr>
            <p:cNvPr id="8" name="组合 7"/>
            <p:cNvGrpSpPr/>
            <p:nvPr/>
          </p:nvGrpSpPr>
          <p:grpSpPr>
            <a:xfrm>
              <a:off x="1926521" y="1320801"/>
              <a:ext cx="4550169" cy="1689100"/>
              <a:chOff x="1951921" y="1028701"/>
              <a:chExt cx="4550169" cy="1689100"/>
            </a:xfrm>
          </p:grpSpPr>
          <p:sp>
            <p:nvSpPr>
              <p:cNvPr id="5" name="圆角矩形 4"/>
              <p:cNvSpPr/>
              <p:nvPr>
                <p:custDataLst>
                  <p:tags r:id="rId2"/>
                </p:custDataLst>
              </p:nvPr>
            </p:nvSpPr>
            <p:spPr>
              <a:xfrm>
                <a:off x="1951921" y="1028701"/>
                <a:ext cx="4461580" cy="1689100"/>
              </a:xfrm>
              <a:prstGeom prst="roundRect">
                <a:avLst>
                  <a:gd name="adj" fmla="val 9827"/>
                </a:avLst>
              </a:prstGeom>
              <a:solidFill>
                <a:schemeClr val="bg1">
                  <a:alpha val="10000"/>
                </a:schemeClr>
              </a:solidFill>
              <a:ln>
                <a:gradFill>
                  <a:gsLst>
                    <a:gs pos="0">
                      <a:schemeClr val="bg1"/>
                    </a:gs>
                    <a:gs pos="37000">
                      <a:schemeClr val="bg1">
                        <a:alpha val="50000"/>
                      </a:schemeClr>
                    </a:gs>
                    <a:gs pos="75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algn="ctr"/>
                <a:endParaRPr lang="zh-CN" altLang="en-US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 rot="0">
                <a:off x="2196790" y="1227494"/>
                <a:ext cx="4305300" cy="1015663"/>
                <a:chOff x="2196790" y="1063789"/>
                <a:chExt cx="4305300" cy="1015663"/>
              </a:xfrm>
            </p:grpSpPr>
            <p:sp>
              <p:nvSpPr>
                <p:cNvPr id="104" name="文本框 103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3141720" y="1381289"/>
                  <a:ext cx="3360370" cy="53213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4400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zh-CN" altLang="en-US" sz="1900" b="1" dirty="0">
                      <a:solidFill>
                        <a:schemeClr val="tx1"/>
                      </a:solidFill>
                    </a:rPr>
                    <a:t>数据要素引领数字经济新征程</a:t>
                  </a:r>
                  <a:endParaRPr lang="zh-CN" altLang="en-US" sz="19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文本框 109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196790" y="1063789"/>
                  <a:ext cx="1040670" cy="1015663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3200" b="1">
                      <a:gradFill>
                        <a:gsLst>
                          <a:gs pos="0">
                            <a:schemeClr val="accent3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3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3">
                            <a:alpha val="20000"/>
                          </a:schemeClr>
                        </a:outerShdw>
                      </a:effectLst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gradFill flip="none" rotWithShape="1">
                        <a:gsLst>
                          <a:gs pos="1000">
                            <a:schemeClr val="accent1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/>
                    </a:rPr>
                    <a:t>01</a:t>
                  </a:r>
                  <a:endParaRPr lang="en-US" altLang="zh-CN" sz="6000" dirty="0">
                    <a:gradFill flip="none" rotWithShape="1">
                      <a:gsLst>
                        <a:gs pos="100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1926521" y="3570954"/>
              <a:ext cx="4461580" cy="1689100"/>
              <a:chOff x="1951921" y="1028701"/>
              <a:chExt cx="4461580" cy="1689100"/>
            </a:xfrm>
          </p:grpSpPr>
          <p:sp>
            <p:nvSpPr>
              <p:cNvPr id="47" name="圆角矩形 46"/>
              <p:cNvSpPr/>
              <p:nvPr>
                <p:custDataLst>
                  <p:tags r:id="rId5"/>
                </p:custDataLst>
              </p:nvPr>
            </p:nvSpPr>
            <p:spPr>
              <a:xfrm>
                <a:off x="1951921" y="1028701"/>
                <a:ext cx="4461580" cy="1689100"/>
              </a:xfrm>
              <a:prstGeom prst="roundRect">
                <a:avLst>
                  <a:gd name="adj" fmla="val 9827"/>
                </a:avLst>
              </a:prstGeom>
              <a:solidFill>
                <a:schemeClr val="bg1">
                  <a:alpha val="10000"/>
                </a:schemeClr>
              </a:solidFill>
              <a:ln>
                <a:gradFill>
                  <a:gsLst>
                    <a:gs pos="0">
                      <a:schemeClr val="bg1"/>
                    </a:gs>
                    <a:gs pos="37000">
                      <a:schemeClr val="bg1">
                        <a:alpha val="50000"/>
                      </a:schemeClr>
                    </a:gs>
                    <a:gs pos="75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 rot="0">
                <a:off x="2196790" y="1227494"/>
                <a:ext cx="4146026" cy="1014730"/>
                <a:chOff x="2196790" y="1063789"/>
                <a:chExt cx="4146026" cy="1014730"/>
              </a:xfrm>
            </p:grpSpPr>
            <p:sp>
              <p:nvSpPr>
                <p:cNvPr id="51" name="文本框 50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166775" y="1381381"/>
                  <a:ext cx="3176041" cy="532354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4400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产业分群与成长机制分析</a:t>
                  </a:r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文本框 51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2196790" y="1063789"/>
                  <a:ext cx="1031709" cy="1014730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3200" b="1">
                      <a:gradFill>
                        <a:gsLst>
                          <a:gs pos="0">
                            <a:schemeClr val="accent3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3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3">
                            <a:alpha val="20000"/>
                          </a:schemeClr>
                        </a:outerShdw>
                      </a:effectLst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gradFill flip="none" rotWithShape="1">
                        <a:gsLst>
                          <a:gs pos="1000">
                            <a:schemeClr val="accent1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/>
                    </a:rPr>
                    <a:t>03</a:t>
                  </a:r>
                  <a:endParaRPr lang="en-US" altLang="zh-CN" sz="6000" dirty="0">
                    <a:gradFill flip="none" rotWithShape="1">
                      <a:gsLst>
                        <a:gs pos="100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6696470" y="1320801"/>
              <a:ext cx="4461580" cy="1689100"/>
              <a:chOff x="1951921" y="1028701"/>
              <a:chExt cx="4461580" cy="1689100"/>
            </a:xfrm>
          </p:grpSpPr>
          <p:sp>
            <p:nvSpPr>
              <p:cNvPr id="54" name="圆角矩形 53"/>
              <p:cNvSpPr/>
              <p:nvPr>
                <p:custDataLst>
                  <p:tags r:id="rId8"/>
                </p:custDataLst>
              </p:nvPr>
            </p:nvSpPr>
            <p:spPr>
              <a:xfrm>
                <a:off x="1951921" y="1028701"/>
                <a:ext cx="4461580" cy="1689100"/>
              </a:xfrm>
              <a:prstGeom prst="roundRect">
                <a:avLst>
                  <a:gd name="adj" fmla="val 9827"/>
                </a:avLst>
              </a:prstGeom>
              <a:solidFill>
                <a:schemeClr val="bg1">
                  <a:alpha val="10000"/>
                </a:schemeClr>
              </a:solidFill>
              <a:ln>
                <a:gradFill>
                  <a:gsLst>
                    <a:gs pos="0">
                      <a:schemeClr val="bg1"/>
                    </a:gs>
                    <a:gs pos="37000">
                      <a:schemeClr val="bg1">
                        <a:alpha val="50000"/>
                      </a:schemeClr>
                    </a:gs>
                    <a:gs pos="75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 rot="0">
                <a:off x="2196790" y="1227494"/>
                <a:ext cx="4216710" cy="1014730"/>
                <a:chOff x="2196790" y="1063789"/>
                <a:chExt cx="4216710" cy="1014730"/>
              </a:xfrm>
            </p:grpSpPr>
            <p:sp>
              <p:nvSpPr>
                <p:cNvPr id="58" name="文本框 57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3237459" y="1381381"/>
                  <a:ext cx="3176041" cy="532354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4400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数据要素企业全景扫描</a:t>
                  </a:r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文本框 58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196790" y="1063789"/>
                  <a:ext cx="1031709" cy="1014730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3200" b="1">
                      <a:gradFill>
                        <a:gsLst>
                          <a:gs pos="0">
                            <a:schemeClr val="accent3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3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3">
                            <a:alpha val="20000"/>
                          </a:schemeClr>
                        </a:outerShdw>
                      </a:effectLst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gradFill flip="none" rotWithShape="1">
                        <a:gsLst>
                          <a:gs pos="1000">
                            <a:schemeClr val="accent1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/>
                    </a:rPr>
                    <a:t>02</a:t>
                  </a:r>
                  <a:endParaRPr lang="en-US" altLang="zh-CN" sz="6000" dirty="0">
                    <a:gradFill flip="none" rotWithShape="1">
                      <a:gsLst>
                        <a:gs pos="100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/>
                  </a:endParaRPr>
                </a:p>
              </p:txBody>
            </p:sp>
          </p:grpSp>
        </p:grpSp>
        <p:grpSp>
          <p:nvGrpSpPr>
            <p:cNvPr id="60" name="组合 59"/>
            <p:cNvGrpSpPr/>
            <p:nvPr/>
          </p:nvGrpSpPr>
          <p:grpSpPr>
            <a:xfrm>
              <a:off x="6696470" y="3570954"/>
              <a:ext cx="4509098" cy="1689100"/>
              <a:chOff x="1951921" y="1028701"/>
              <a:chExt cx="4509098" cy="1689100"/>
            </a:xfrm>
          </p:grpSpPr>
          <p:sp>
            <p:nvSpPr>
              <p:cNvPr id="61" name="圆角矩形 60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51921" y="1028701"/>
                <a:ext cx="4461580" cy="1689100"/>
              </a:xfrm>
              <a:prstGeom prst="roundRect">
                <a:avLst>
                  <a:gd name="adj" fmla="val 9827"/>
                </a:avLst>
              </a:prstGeom>
              <a:solidFill>
                <a:schemeClr val="bg1">
                  <a:alpha val="10000"/>
                </a:schemeClr>
              </a:solidFill>
              <a:ln>
                <a:gradFill>
                  <a:gsLst>
                    <a:gs pos="0">
                      <a:schemeClr val="bg1"/>
                    </a:gs>
                    <a:gs pos="37000">
                      <a:schemeClr val="bg1">
                        <a:alpha val="50000"/>
                      </a:schemeClr>
                    </a:gs>
                    <a:gs pos="75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 rot="0">
                <a:off x="2196790" y="1227494"/>
                <a:ext cx="4264229" cy="1015663"/>
                <a:chOff x="2196790" y="1063789"/>
                <a:chExt cx="4264229" cy="1015663"/>
              </a:xfrm>
            </p:grpSpPr>
            <p:sp>
              <p:nvSpPr>
                <p:cNvPr id="65" name="文本框 6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3189699" y="1381289"/>
                  <a:ext cx="3271320" cy="53213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4400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高质量发展路径与政策建议</a:t>
                  </a:r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文本框 65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2196790" y="1063789"/>
                  <a:ext cx="1040670" cy="1015663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3200" b="1">
                      <a:gradFill>
                        <a:gsLst>
                          <a:gs pos="0">
                            <a:schemeClr val="accent3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3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3">
                            <a:alpha val="20000"/>
                          </a:schemeClr>
                        </a:outerShdw>
                      </a:effectLst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gradFill flip="none" rotWithShape="1">
                        <a:gsLst>
                          <a:gs pos="1000">
                            <a:schemeClr val="accent1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/>
                    </a:rPr>
                    <a:t>04</a:t>
                  </a:r>
                  <a:endParaRPr lang="en-US" altLang="zh-CN" sz="6000" dirty="0">
                    <a:gradFill flip="none" rotWithShape="1">
                      <a:gsLst>
                        <a:gs pos="100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/>
        </p:nvSpPr>
        <p:spPr>
          <a:xfrm rot="5400000" flipH="1">
            <a:off x="-1037311" y="2831477"/>
            <a:ext cx="4780655" cy="1195421"/>
          </a:xfrm>
          <a:prstGeom prst="rect">
            <a:avLst/>
          </a:prstGeom>
          <a:noFill/>
          <a:ln>
            <a:noFill/>
          </a:ln>
        </p:spPr>
        <p:txBody>
          <a:bodyPr vert="vert270" wrap="squar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sz="6000" b="1" dirty="0">
                <a:gradFill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目录</a:t>
            </a:r>
            <a:endParaRPr lang="en-US" altLang="zh-CN" sz="6000" b="1" dirty="0">
              <a:gradFill>
                <a:gsLst>
                  <a:gs pos="100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351405" y="2501265"/>
            <a:ext cx="7488555" cy="90678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数据要素引领数字经济新征程</a:t>
            </a:r>
            <a:endParaRPr lang="en-US" dirty="0"/>
          </a:p>
        </p:txBody>
      </p:sp>
      <p:sp>
        <p:nvSpPr>
          <p:cNvPr id="2" name="文本占位符 1"/>
          <p:cNvSpPr/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535305" y="1132840"/>
            <a:ext cx="8447405" cy="4722236"/>
            <a:chOff x="598805" y="1000760"/>
            <a:chExt cx="8447405" cy="4722236"/>
          </a:xfrm>
        </p:grpSpPr>
        <p:sp>
          <p:nvSpPr>
            <p:cNvPr id="2" name="文本框 1"/>
            <p:cNvSpPr txBox="1"/>
            <p:nvPr/>
          </p:nvSpPr>
          <p:spPr>
            <a:xfrm>
              <a:off x="598805" y="1000760"/>
              <a:ext cx="8447405" cy="770890"/>
            </a:xfrm>
            <a:prstGeom prst="rect">
              <a:avLst/>
            </a:prstGeom>
            <a:noFill/>
          </p:spPr>
          <p:txBody>
            <a:bodyPr vert="horz" wrap="square" rtlCol="0" anchor="t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dirty="0"/>
                <a:t>数据已被正式确立为继土地、劳动力、资本、技术之后的第五大生产要素。</a:t>
              </a:r>
              <a:endParaRPr lang="zh-CN" altLang="en-US" sz="2000" b="1" dirty="0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88617" y="1876060"/>
              <a:ext cx="7747000" cy="1091565"/>
              <a:chOff x="788617" y="1876060"/>
              <a:chExt cx="7747000" cy="1091565"/>
            </a:xfrm>
          </p:grpSpPr>
          <p:sp>
            <p:nvSpPr>
              <p:cNvPr id="73" name="矩形 72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1418537" y="1876060"/>
                <a:ext cx="4418330" cy="4146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政策导向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矩形 73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418537" y="2357390"/>
                <a:ext cx="7117080" cy="61023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国家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“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数据二十条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”+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《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“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数据要素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×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”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三年行动计划》</a:t>
                </a:r>
                <a:endParaRPr lang="zh-CN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+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浙江数据综合改革试点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788617" y="1916399"/>
                <a:ext cx="440931" cy="44093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2" name="任意多边形 71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896643" y="2038564"/>
                <a:ext cx="224880" cy="224540"/>
              </a:xfrm>
              <a:custGeom>
                <a:avLst/>
                <a:gdLst>
                  <a:gd name="connsiteX0" fmla="*/ 276193 w 607639"/>
                  <a:gd name="connsiteY0" fmla="*/ 349370 h 606722"/>
                  <a:gd name="connsiteX1" fmla="*/ 331446 w 607639"/>
                  <a:gd name="connsiteY1" fmla="*/ 349370 h 606722"/>
                  <a:gd name="connsiteX2" fmla="*/ 331446 w 607639"/>
                  <a:gd name="connsiteY2" fmla="*/ 404482 h 606722"/>
                  <a:gd name="connsiteX3" fmla="*/ 276193 w 607639"/>
                  <a:gd name="connsiteY3" fmla="*/ 404482 h 606722"/>
                  <a:gd name="connsiteX4" fmla="*/ 0 w 607639"/>
                  <a:gd name="connsiteY4" fmla="*/ 288119 h 606722"/>
                  <a:gd name="connsiteX5" fmla="*/ 27592 w 607639"/>
                  <a:gd name="connsiteY5" fmla="*/ 294962 h 606722"/>
                  <a:gd name="connsiteX6" fmla="*/ 55272 w 607639"/>
                  <a:gd name="connsiteY6" fmla="*/ 301894 h 606722"/>
                  <a:gd name="connsiteX7" fmla="*/ 220911 w 607639"/>
                  <a:gd name="connsiteY7" fmla="*/ 343219 h 606722"/>
                  <a:gd name="connsiteX8" fmla="*/ 220911 w 607639"/>
                  <a:gd name="connsiteY8" fmla="*/ 432001 h 606722"/>
                  <a:gd name="connsiteX9" fmla="*/ 248592 w 607639"/>
                  <a:gd name="connsiteY9" fmla="*/ 459640 h 606722"/>
                  <a:gd name="connsiteX10" fmla="*/ 359047 w 607639"/>
                  <a:gd name="connsiteY10" fmla="*/ 459640 h 606722"/>
                  <a:gd name="connsiteX11" fmla="*/ 386639 w 607639"/>
                  <a:gd name="connsiteY11" fmla="*/ 432001 h 606722"/>
                  <a:gd name="connsiteX12" fmla="*/ 386639 w 607639"/>
                  <a:gd name="connsiteY12" fmla="*/ 343219 h 606722"/>
                  <a:gd name="connsiteX13" fmla="*/ 552367 w 607639"/>
                  <a:gd name="connsiteY13" fmla="*/ 301894 h 606722"/>
                  <a:gd name="connsiteX14" fmla="*/ 579958 w 607639"/>
                  <a:gd name="connsiteY14" fmla="*/ 294962 h 606722"/>
                  <a:gd name="connsiteX15" fmla="*/ 607639 w 607639"/>
                  <a:gd name="connsiteY15" fmla="*/ 288119 h 606722"/>
                  <a:gd name="connsiteX16" fmla="*/ 607639 w 607639"/>
                  <a:gd name="connsiteY16" fmla="*/ 579083 h 606722"/>
                  <a:gd name="connsiteX17" fmla="*/ 579958 w 607639"/>
                  <a:gd name="connsiteY17" fmla="*/ 606722 h 606722"/>
                  <a:gd name="connsiteX18" fmla="*/ 27592 w 607639"/>
                  <a:gd name="connsiteY18" fmla="*/ 606722 h 606722"/>
                  <a:gd name="connsiteX19" fmla="*/ 0 w 607639"/>
                  <a:gd name="connsiteY19" fmla="*/ 579083 h 606722"/>
                  <a:gd name="connsiteX20" fmla="*/ 239335 w 607639"/>
                  <a:gd name="connsiteY20" fmla="*/ 55193 h 606722"/>
                  <a:gd name="connsiteX21" fmla="*/ 239335 w 607639"/>
                  <a:gd name="connsiteY21" fmla="*/ 110298 h 606722"/>
                  <a:gd name="connsiteX22" fmla="*/ 368215 w 607639"/>
                  <a:gd name="connsiteY22" fmla="*/ 110298 h 606722"/>
                  <a:gd name="connsiteX23" fmla="*/ 368215 w 607639"/>
                  <a:gd name="connsiteY23" fmla="*/ 55193 h 606722"/>
                  <a:gd name="connsiteX24" fmla="*/ 211744 w 607639"/>
                  <a:gd name="connsiteY24" fmla="*/ 0 h 606722"/>
                  <a:gd name="connsiteX25" fmla="*/ 395895 w 607639"/>
                  <a:gd name="connsiteY25" fmla="*/ 0 h 606722"/>
                  <a:gd name="connsiteX26" fmla="*/ 423487 w 607639"/>
                  <a:gd name="connsiteY26" fmla="*/ 27552 h 606722"/>
                  <a:gd name="connsiteX27" fmla="*/ 423487 w 607639"/>
                  <a:gd name="connsiteY27" fmla="*/ 110298 h 606722"/>
                  <a:gd name="connsiteX28" fmla="*/ 579958 w 607639"/>
                  <a:gd name="connsiteY28" fmla="*/ 110298 h 606722"/>
                  <a:gd name="connsiteX29" fmla="*/ 607639 w 607639"/>
                  <a:gd name="connsiteY29" fmla="*/ 137939 h 606722"/>
                  <a:gd name="connsiteX30" fmla="*/ 607639 w 607639"/>
                  <a:gd name="connsiteY30" fmla="*/ 231261 h 606722"/>
                  <a:gd name="connsiteX31" fmla="*/ 579958 w 607639"/>
                  <a:gd name="connsiteY31" fmla="*/ 238194 h 606722"/>
                  <a:gd name="connsiteX32" fmla="*/ 552367 w 607639"/>
                  <a:gd name="connsiteY32" fmla="*/ 245037 h 606722"/>
                  <a:gd name="connsiteX33" fmla="*/ 355665 w 607639"/>
                  <a:gd name="connsiteY33" fmla="*/ 294187 h 606722"/>
                  <a:gd name="connsiteX34" fmla="*/ 251974 w 607639"/>
                  <a:gd name="connsiteY34" fmla="*/ 294187 h 606722"/>
                  <a:gd name="connsiteX35" fmla="*/ 55272 w 607639"/>
                  <a:gd name="connsiteY35" fmla="*/ 245037 h 606722"/>
                  <a:gd name="connsiteX36" fmla="*/ 27592 w 607639"/>
                  <a:gd name="connsiteY36" fmla="*/ 238194 h 606722"/>
                  <a:gd name="connsiteX37" fmla="*/ 0 w 607639"/>
                  <a:gd name="connsiteY37" fmla="*/ 231261 h 606722"/>
                  <a:gd name="connsiteX38" fmla="*/ 0 w 607639"/>
                  <a:gd name="connsiteY38" fmla="*/ 137939 h 606722"/>
                  <a:gd name="connsiteX39" fmla="*/ 27592 w 607639"/>
                  <a:gd name="connsiteY39" fmla="*/ 110298 h 606722"/>
                  <a:gd name="connsiteX40" fmla="*/ 184152 w 607639"/>
                  <a:gd name="connsiteY40" fmla="*/ 110298 h 606722"/>
                  <a:gd name="connsiteX41" fmla="*/ 184152 w 607639"/>
                  <a:gd name="connsiteY41" fmla="*/ 27552 h 606722"/>
                  <a:gd name="connsiteX42" fmla="*/ 211744 w 607639"/>
                  <a:gd name="connsiteY42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607639" h="606722">
                    <a:moveTo>
                      <a:pt x="276193" y="349370"/>
                    </a:moveTo>
                    <a:lnTo>
                      <a:pt x="331446" y="349370"/>
                    </a:lnTo>
                    <a:lnTo>
                      <a:pt x="331446" y="404482"/>
                    </a:lnTo>
                    <a:lnTo>
                      <a:pt x="276193" y="404482"/>
                    </a:lnTo>
                    <a:close/>
                    <a:moveTo>
                      <a:pt x="0" y="288119"/>
                    </a:moveTo>
                    <a:lnTo>
                      <a:pt x="27592" y="294962"/>
                    </a:lnTo>
                    <a:lnTo>
                      <a:pt x="55272" y="301894"/>
                    </a:lnTo>
                    <a:lnTo>
                      <a:pt x="220911" y="343219"/>
                    </a:lnTo>
                    <a:lnTo>
                      <a:pt x="220911" y="432001"/>
                    </a:lnTo>
                    <a:cubicBezTo>
                      <a:pt x="220911" y="447287"/>
                      <a:pt x="233283" y="459640"/>
                      <a:pt x="248592" y="459640"/>
                    </a:cubicBezTo>
                    <a:lnTo>
                      <a:pt x="359047" y="459640"/>
                    </a:lnTo>
                    <a:cubicBezTo>
                      <a:pt x="374267" y="459640"/>
                      <a:pt x="386639" y="447287"/>
                      <a:pt x="386639" y="432001"/>
                    </a:cubicBezTo>
                    <a:lnTo>
                      <a:pt x="386639" y="343219"/>
                    </a:lnTo>
                    <a:lnTo>
                      <a:pt x="552367" y="301894"/>
                    </a:lnTo>
                    <a:lnTo>
                      <a:pt x="579958" y="294962"/>
                    </a:lnTo>
                    <a:lnTo>
                      <a:pt x="607639" y="288119"/>
                    </a:lnTo>
                    <a:lnTo>
                      <a:pt x="607639" y="579083"/>
                    </a:lnTo>
                    <a:cubicBezTo>
                      <a:pt x="607639" y="594369"/>
                      <a:pt x="595267" y="606722"/>
                      <a:pt x="579958" y="606722"/>
                    </a:cubicBezTo>
                    <a:lnTo>
                      <a:pt x="27592" y="606722"/>
                    </a:lnTo>
                    <a:cubicBezTo>
                      <a:pt x="12372" y="606722"/>
                      <a:pt x="0" y="594369"/>
                      <a:pt x="0" y="579083"/>
                    </a:cubicBezTo>
                    <a:close/>
                    <a:moveTo>
                      <a:pt x="239335" y="55193"/>
                    </a:moveTo>
                    <a:lnTo>
                      <a:pt x="239335" y="110298"/>
                    </a:lnTo>
                    <a:lnTo>
                      <a:pt x="368215" y="110298"/>
                    </a:lnTo>
                    <a:lnTo>
                      <a:pt x="368215" y="55193"/>
                    </a:lnTo>
                    <a:close/>
                    <a:moveTo>
                      <a:pt x="211744" y="0"/>
                    </a:moveTo>
                    <a:lnTo>
                      <a:pt x="395895" y="0"/>
                    </a:lnTo>
                    <a:cubicBezTo>
                      <a:pt x="411115" y="0"/>
                      <a:pt x="423487" y="12354"/>
                      <a:pt x="423487" y="27552"/>
                    </a:cubicBezTo>
                    <a:lnTo>
                      <a:pt x="423487" y="110298"/>
                    </a:lnTo>
                    <a:lnTo>
                      <a:pt x="579958" y="110298"/>
                    </a:lnTo>
                    <a:cubicBezTo>
                      <a:pt x="595267" y="110298"/>
                      <a:pt x="607639" y="122652"/>
                      <a:pt x="607639" y="137939"/>
                    </a:cubicBezTo>
                    <a:lnTo>
                      <a:pt x="607639" y="231261"/>
                    </a:lnTo>
                    <a:lnTo>
                      <a:pt x="579958" y="238194"/>
                    </a:lnTo>
                    <a:lnTo>
                      <a:pt x="552367" y="245037"/>
                    </a:lnTo>
                    <a:lnTo>
                      <a:pt x="355665" y="294187"/>
                    </a:lnTo>
                    <a:lnTo>
                      <a:pt x="251974" y="294187"/>
                    </a:lnTo>
                    <a:lnTo>
                      <a:pt x="55272" y="245037"/>
                    </a:lnTo>
                    <a:lnTo>
                      <a:pt x="27592" y="238194"/>
                    </a:lnTo>
                    <a:lnTo>
                      <a:pt x="0" y="231261"/>
                    </a:lnTo>
                    <a:lnTo>
                      <a:pt x="0" y="137939"/>
                    </a:lnTo>
                    <a:cubicBezTo>
                      <a:pt x="0" y="122652"/>
                      <a:pt x="12372" y="110298"/>
                      <a:pt x="27592" y="110298"/>
                    </a:cubicBezTo>
                    <a:lnTo>
                      <a:pt x="184152" y="110298"/>
                    </a:lnTo>
                    <a:lnTo>
                      <a:pt x="184152" y="27552"/>
                    </a:lnTo>
                    <a:cubicBezTo>
                      <a:pt x="184152" y="12354"/>
                      <a:pt x="196524" y="0"/>
                      <a:pt x="2117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833067" y="3331634"/>
              <a:ext cx="6654800" cy="1124061"/>
              <a:chOff x="833067" y="3331634"/>
              <a:chExt cx="6654800" cy="1124061"/>
            </a:xfrm>
          </p:grpSpPr>
          <p:sp>
            <p:nvSpPr>
              <p:cNvPr id="63" name="矩形 62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452827" y="3331634"/>
                <a:ext cx="4418330" cy="435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区域定位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矩形 63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418537" y="3845460"/>
                <a:ext cx="6069330" cy="61023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启动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“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中国数谷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”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建设，打造全球数据要素治理引领区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833067" y="3404669"/>
                <a:ext cx="440931" cy="44093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62" name="任意多边形 61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941351" y="3493041"/>
                <a:ext cx="224880" cy="224540"/>
              </a:xfrm>
              <a:custGeom>
                <a:avLst/>
                <a:gdLst>
                  <a:gd name="connsiteX0" fmla="*/ 276193 w 607639"/>
                  <a:gd name="connsiteY0" fmla="*/ 349370 h 606722"/>
                  <a:gd name="connsiteX1" fmla="*/ 331446 w 607639"/>
                  <a:gd name="connsiteY1" fmla="*/ 349370 h 606722"/>
                  <a:gd name="connsiteX2" fmla="*/ 331446 w 607639"/>
                  <a:gd name="connsiteY2" fmla="*/ 404482 h 606722"/>
                  <a:gd name="connsiteX3" fmla="*/ 276193 w 607639"/>
                  <a:gd name="connsiteY3" fmla="*/ 404482 h 606722"/>
                  <a:gd name="connsiteX4" fmla="*/ 0 w 607639"/>
                  <a:gd name="connsiteY4" fmla="*/ 288119 h 606722"/>
                  <a:gd name="connsiteX5" fmla="*/ 27592 w 607639"/>
                  <a:gd name="connsiteY5" fmla="*/ 294962 h 606722"/>
                  <a:gd name="connsiteX6" fmla="*/ 55272 w 607639"/>
                  <a:gd name="connsiteY6" fmla="*/ 301894 h 606722"/>
                  <a:gd name="connsiteX7" fmla="*/ 220911 w 607639"/>
                  <a:gd name="connsiteY7" fmla="*/ 343219 h 606722"/>
                  <a:gd name="connsiteX8" fmla="*/ 220911 w 607639"/>
                  <a:gd name="connsiteY8" fmla="*/ 432001 h 606722"/>
                  <a:gd name="connsiteX9" fmla="*/ 248592 w 607639"/>
                  <a:gd name="connsiteY9" fmla="*/ 459640 h 606722"/>
                  <a:gd name="connsiteX10" fmla="*/ 359047 w 607639"/>
                  <a:gd name="connsiteY10" fmla="*/ 459640 h 606722"/>
                  <a:gd name="connsiteX11" fmla="*/ 386639 w 607639"/>
                  <a:gd name="connsiteY11" fmla="*/ 432001 h 606722"/>
                  <a:gd name="connsiteX12" fmla="*/ 386639 w 607639"/>
                  <a:gd name="connsiteY12" fmla="*/ 343219 h 606722"/>
                  <a:gd name="connsiteX13" fmla="*/ 552367 w 607639"/>
                  <a:gd name="connsiteY13" fmla="*/ 301894 h 606722"/>
                  <a:gd name="connsiteX14" fmla="*/ 579958 w 607639"/>
                  <a:gd name="connsiteY14" fmla="*/ 294962 h 606722"/>
                  <a:gd name="connsiteX15" fmla="*/ 607639 w 607639"/>
                  <a:gd name="connsiteY15" fmla="*/ 288119 h 606722"/>
                  <a:gd name="connsiteX16" fmla="*/ 607639 w 607639"/>
                  <a:gd name="connsiteY16" fmla="*/ 579083 h 606722"/>
                  <a:gd name="connsiteX17" fmla="*/ 579958 w 607639"/>
                  <a:gd name="connsiteY17" fmla="*/ 606722 h 606722"/>
                  <a:gd name="connsiteX18" fmla="*/ 27592 w 607639"/>
                  <a:gd name="connsiteY18" fmla="*/ 606722 h 606722"/>
                  <a:gd name="connsiteX19" fmla="*/ 0 w 607639"/>
                  <a:gd name="connsiteY19" fmla="*/ 579083 h 606722"/>
                  <a:gd name="connsiteX20" fmla="*/ 239335 w 607639"/>
                  <a:gd name="connsiteY20" fmla="*/ 55193 h 606722"/>
                  <a:gd name="connsiteX21" fmla="*/ 239335 w 607639"/>
                  <a:gd name="connsiteY21" fmla="*/ 110298 h 606722"/>
                  <a:gd name="connsiteX22" fmla="*/ 368215 w 607639"/>
                  <a:gd name="connsiteY22" fmla="*/ 110298 h 606722"/>
                  <a:gd name="connsiteX23" fmla="*/ 368215 w 607639"/>
                  <a:gd name="connsiteY23" fmla="*/ 55193 h 606722"/>
                  <a:gd name="connsiteX24" fmla="*/ 211744 w 607639"/>
                  <a:gd name="connsiteY24" fmla="*/ 0 h 606722"/>
                  <a:gd name="connsiteX25" fmla="*/ 395895 w 607639"/>
                  <a:gd name="connsiteY25" fmla="*/ 0 h 606722"/>
                  <a:gd name="connsiteX26" fmla="*/ 423487 w 607639"/>
                  <a:gd name="connsiteY26" fmla="*/ 27552 h 606722"/>
                  <a:gd name="connsiteX27" fmla="*/ 423487 w 607639"/>
                  <a:gd name="connsiteY27" fmla="*/ 110298 h 606722"/>
                  <a:gd name="connsiteX28" fmla="*/ 579958 w 607639"/>
                  <a:gd name="connsiteY28" fmla="*/ 110298 h 606722"/>
                  <a:gd name="connsiteX29" fmla="*/ 607639 w 607639"/>
                  <a:gd name="connsiteY29" fmla="*/ 137939 h 606722"/>
                  <a:gd name="connsiteX30" fmla="*/ 607639 w 607639"/>
                  <a:gd name="connsiteY30" fmla="*/ 231261 h 606722"/>
                  <a:gd name="connsiteX31" fmla="*/ 579958 w 607639"/>
                  <a:gd name="connsiteY31" fmla="*/ 238194 h 606722"/>
                  <a:gd name="connsiteX32" fmla="*/ 552367 w 607639"/>
                  <a:gd name="connsiteY32" fmla="*/ 245037 h 606722"/>
                  <a:gd name="connsiteX33" fmla="*/ 355665 w 607639"/>
                  <a:gd name="connsiteY33" fmla="*/ 294187 h 606722"/>
                  <a:gd name="connsiteX34" fmla="*/ 251974 w 607639"/>
                  <a:gd name="connsiteY34" fmla="*/ 294187 h 606722"/>
                  <a:gd name="connsiteX35" fmla="*/ 55272 w 607639"/>
                  <a:gd name="connsiteY35" fmla="*/ 245037 h 606722"/>
                  <a:gd name="connsiteX36" fmla="*/ 27592 w 607639"/>
                  <a:gd name="connsiteY36" fmla="*/ 238194 h 606722"/>
                  <a:gd name="connsiteX37" fmla="*/ 0 w 607639"/>
                  <a:gd name="connsiteY37" fmla="*/ 231261 h 606722"/>
                  <a:gd name="connsiteX38" fmla="*/ 0 w 607639"/>
                  <a:gd name="connsiteY38" fmla="*/ 137939 h 606722"/>
                  <a:gd name="connsiteX39" fmla="*/ 27592 w 607639"/>
                  <a:gd name="connsiteY39" fmla="*/ 110298 h 606722"/>
                  <a:gd name="connsiteX40" fmla="*/ 184152 w 607639"/>
                  <a:gd name="connsiteY40" fmla="*/ 110298 h 606722"/>
                  <a:gd name="connsiteX41" fmla="*/ 184152 w 607639"/>
                  <a:gd name="connsiteY41" fmla="*/ 27552 h 606722"/>
                  <a:gd name="connsiteX42" fmla="*/ 211744 w 607639"/>
                  <a:gd name="connsiteY42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607639" h="606722">
                    <a:moveTo>
                      <a:pt x="276193" y="349370"/>
                    </a:moveTo>
                    <a:lnTo>
                      <a:pt x="331446" y="349370"/>
                    </a:lnTo>
                    <a:lnTo>
                      <a:pt x="331446" y="404482"/>
                    </a:lnTo>
                    <a:lnTo>
                      <a:pt x="276193" y="404482"/>
                    </a:lnTo>
                    <a:close/>
                    <a:moveTo>
                      <a:pt x="0" y="288119"/>
                    </a:moveTo>
                    <a:lnTo>
                      <a:pt x="27592" y="294962"/>
                    </a:lnTo>
                    <a:lnTo>
                      <a:pt x="55272" y="301894"/>
                    </a:lnTo>
                    <a:lnTo>
                      <a:pt x="220911" y="343219"/>
                    </a:lnTo>
                    <a:lnTo>
                      <a:pt x="220911" y="432001"/>
                    </a:lnTo>
                    <a:cubicBezTo>
                      <a:pt x="220911" y="447287"/>
                      <a:pt x="233283" y="459640"/>
                      <a:pt x="248592" y="459640"/>
                    </a:cubicBezTo>
                    <a:lnTo>
                      <a:pt x="359047" y="459640"/>
                    </a:lnTo>
                    <a:cubicBezTo>
                      <a:pt x="374267" y="459640"/>
                      <a:pt x="386639" y="447287"/>
                      <a:pt x="386639" y="432001"/>
                    </a:cubicBezTo>
                    <a:lnTo>
                      <a:pt x="386639" y="343219"/>
                    </a:lnTo>
                    <a:lnTo>
                      <a:pt x="552367" y="301894"/>
                    </a:lnTo>
                    <a:lnTo>
                      <a:pt x="579958" y="294962"/>
                    </a:lnTo>
                    <a:lnTo>
                      <a:pt x="607639" y="288119"/>
                    </a:lnTo>
                    <a:lnTo>
                      <a:pt x="607639" y="579083"/>
                    </a:lnTo>
                    <a:cubicBezTo>
                      <a:pt x="607639" y="594369"/>
                      <a:pt x="595267" y="606722"/>
                      <a:pt x="579958" y="606722"/>
                    </a:cubicBezTo>
                    <a:lnTo>
                      <a:pt x="27592" y="606722"/>
                    </a:lnTo>
                    <a:cubicBezTo>
                      <a:pt x="12372" y="606722"/>
                      <a:pt x="0" y="594369"/>
                      <a:pt x="0" y="579083"/>
                    </a:cubicBezTo>
                    <a:close/>
                    <a:moveTo>
                      <a:pt x="239335" y="55193"/>
                    </a:moveTo>
                    <a:lnTo>
                      <a:pt x="239335" y="110298"/>
                    </a:lnTo>
                    <a:lnTo>
                      <a:pt x="368215" y="110298"/>
                    </a:lnTo>
                    <a:lnTo>
                      <a:pt x="368215" y="55193"/>
                    </a:lnTo>
                    <a:close/>
                    <a:moveTo>
                      <a:pt x="211744" y="0"/>
                    </a:moveTo>
                    <a:lnTo>
                      <a:pt x="395895" y="0"/>
                    </a:lnTo>
                    <a:cubicBezTo>
                      <a:pt x="411115" y="0"/>
                      <a:pt x="423487" y="12354"/>
                      <a:pt x="423487" y="27552"/>
                    </a:cubicBezTo>
                    <a:lnTo>
                      <a:pt x="423487" y="110298"/>
                    </a:lnTo>
                    <a:lnTo>
                      <a:pt x="579958" y="110298"/>
                    </a:lnTo>
                    <a:cubicBezTo>
                      <a:pt x="595267" y="110298"/>
                      <a:pt x="607639" y="122652"/>
                      <a:pt x="607639" y="137939"/>
                    </a:cubicBezTo>
                    <a:lnTo>
                      <a:pt x="607639" y="231261"/>
                    </a:lnTo>
                    <a:lnTo>
                      <a:pt x="579958" y="238194"/>
                    </a:lnTo>
                    <a:lnTo>
                      <a:pt x="552367" y="245037"/>
                    </a:lnTo>
                    <a:lnTo>
                      <a:pt x="355665" y="294187"/>
                    </a:lnTo>
                    <a:lnTo>
                      <a:pt x="251974" y="294187"/>
                    </a:lnTo>
                    <a:lnTo>
                      <a:pt x="55272" y="245037"/>
                    </a:lnTo>
                    <a:lnTo>
                      <a:pt x="27592" y="238194"/>
                    </a:lnTo>
                    <a:lnTo>
                      <a:pt x="0" y="231261"/>
                    </a:lnTo>
                    <a:lnTo>
                      <a:pt x="0" y="137939"/>
                    </a:lnTo>
                    <a:cubicBezTo>
                      <a:pt x="0" y="122652"/>
                      <a:pt x="12372" y="110298"/>
                      <a:pt x="27592" y="110298"/>
                    </a:cubicBezTo>
                    <a:lnTo>
                      <a:pt x="184152" y="110298"/>
                    </a:lnTo>
                    <a:lnTo>
                      <a:pt x="184152" y="27552"/>
                    </a:lnTo>
                    <a:cubicBezTo>
                      <a:pt x="184152" y="12354"/>
                      <a:pt x="196524" y="0"/>
                      <a:pt x="2117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788617" y="4665075"/>
              <a:ext cx="7134225" cy="1057921"/>
              <a:chOff x="788617" y="4665075"/>
              <a:chExt cx="7134225" cy="1057921"/>
            </a:xfrm>
          </p:grpSpPr>
          <p:sp>
            <p:nvSpPr>
              <p:cNvPr id="41" name="矩形 40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1418537" y="4665075"/>
                <a:ext cx="4418330" cy="3981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研究价值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矩形 41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1418537" y="5112761"/>
                <a:ext cx="6504305" cy="61023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为政府决策提供政策建议，为企业发展提供战略参照</a:t>
                </a:r>
                <a:endParaRPr lang="zh-CN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12"/>
                </p:custDataLst>
              </p:nvPr>
            </p:nvSpPr>
            <p:spPr>
              <a:xfrm flipH="1">
                <a:off x="788617" y="4673029"/>
                <a:ext cx="440931" cy="44093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</p:grp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核心背景与研究意义</a:t>
            </a:r>
            <a:endParaRPr lang="zh-CN" altLang="en-US" dirty="0"/>
          </a:p>
        </p:txBody>
      </p:sp>
      <p:sp>
        <p:nvSpPr>
          <p:cNvPr id="8" name="任意多边形 7"/>
          <p:cNvSpPr/>
          <p:nvPr>
            <p:custDataLst>
              <p:tags r:id="rId13"/>
            </p:custDataLst>
          </p:nvPr>
        </p:nvSpPr>
        <p:spPr>
          <a:xfrm flipH="1">
            <a:off x="833143" y="4913304"/>
            <a:ext cx="224880" cy="224540"/>
          </a:xfrm>
          <a:custGeom>
            <a:avLst/>
            <a:gdLst>
              <a:gd name="connsiteX0" fmla="*/ 276193 w 607639"/>
              <a:gd name="connsiteY0" fmla="*/ 349370 h 606722"/>
              <a:gd name="connsiteX1" fmla="*/ 331446 w 607639"/>
              <a:gd name="connsiteY1" fmla="*/ 349370 h 606722"/>
              <a:gd name="connsiteX2" fmla="*/ 331446 w 607639"/>
              <a:gd name="connsiteY2" fmla="*/ 404482 h 606722"/>
              <a:gd name="connsiteX3" fmla="*/ 276193 w 607639"/>
              <a:gd name="connsiteY3" fmla="*/ 404482 h 606722"/>
              <a:gd name="connsiteX4" fmla="*/ 0 w 607639"/>
              <a:gd name="connsiteY4" fmla="*/ 288119 h 606722"/>
              <a:gd name="connsiteX5" fmla="*/ 27592 w 607639"/>
              <a:gd name="connsiteY5" fmla="*/ 294962 h 606722"/>
              <a:gd name="connsiteX6" fmla="*/ 55272 w 607639"/>
              <a:gd name="connsiteY6" fmla="*/ 301894 h 606722"/>
              <a:gd name="connsiteX7" fmla="*/ 220911 w 607639"/>
              <a:gd name="connsiteY7" fmla="*/ 343219 h 606722"/>
              <a:gd name="connsiteX8" fmla="*/ 220911 w 607639"/>
              <a:gd name="connsiteY8" fmla="*/ 432001 h 606722"/>
              <a:gd name="connsiteX9" fmla="*/ 248592 w 607639"/>
              <a:gd name="connsiteY9" fmla="*/ 459640 h 606722"/>
              <a:gd name="connsiteX10" fmla="*/ 359047 w 607639"/>
              <a:gd name="connsiteY10" fmla="*/ 459640 h 606722"/>
              <a:gd name="connsiteX11" fmla="*/ 386639 w 607639"/>
              <a:gd name="connsiteY11" fmla="*/ 432001 h 606722"/>
              <a:gd name="connsiteX12" fmla="*/ 386639 w 607639"/>
              <a:gd name="connsiteY12" fmla="*/ 343219 h 606722"/>
              <a:gd name="connsiteX13" fmla="*/ 552367 w 607639"/>
              <a:gd name="connsiteY13" fmla="*/ 301894 h 606722"/>
              <a:gd name="connsiteX14" fmla="*/ 579958 w 607639"/>
              <a:gd name="connsiteY14" fmla="*/ 294962 h 606722"/>
              <a:gd name="connsiteX15" fmla="*/ 607639 w 607639"/>
              <a:gd name="connsiteY15" fmla="*/ 288119 h 606722"/>
              <a:gd name="connsiteX16" fmla="*/ 607639 w 607639"/>
              <a:gd name="connsiteY16" fmla="*/ 579083 h 606722"/>
              <a:gd name="connsiteX17" fmla="*/ 579958 w 607639"/>
              <a:gd name="connsiteY17" fmla="*/ 606722 h 606722"/>
              <a:gd name="connsiteX18" fmla="*/ 27592 w 607639"/>
              <a:gd name="connsiteY18" fmla="*/ 606722 h 606722"/>
              <a:gd name="connsiteX19" fmla="*/ 0 w 607639"/>
              <a:gd name="connsiteY19" fmla="*/ 579083 h 606722"/>
              <a:gd name="connsiteX20" fmla="*/ 239335 w 607639"/>
              <a:gd name="connsiteY20" fmla="*/ 55193 h 606722"/>
              <a:gd name="connsiteX21" fmla="*/ 239335 w 607639"/>
              <a:gd name="connsiteY21" fmla="*/ 110298 h 606722"/>
              <a:gd name="connsiteX22" fmla="*/ 368215 w 607639"/>
              <a:gd name="connsiteY22" fmla="*/ 110298 h 606722"/>
              <a:gd name="connsiteX23" fmla="*/ 368215 w 607639"/>
              <a:gd name="connsiteY23" fmla="*/ 55193 h 606722"/>
              <a:gd name="connsiteX24" fmla="*/ 211744 w 607639"/>
              <a:gd name="connsiteY24" fmla="*/ 0 h 606722"/>
              <a:gd name="connsiteX25" fmla="*/ 395895 w 607639"/>
              <a:gd name="connsiteY25" fmla="*/ 0 h 606722"/>
              <a:gd name="connsiteX26" fmla="*/ 423487 w 607639"/>
              <a:gd name="connsiteY26" fmla="*/ 27552 h 606722"/>
              <a:gd name="connsiteX27" fmla="*/ 423487 w 607639"/>
              <a:gd name="connsiteY27" fmla="*/ 110298 h 606722"/>
              <a:gd name="connsiteX28" fmla="*/ 579958 w 607639"/>
              <a:gd name="connsiteY28" fmla="*/ 110298 h 606722"/>
              <a:gd name="connsiteX29" fmla="*/ 607639 w 607639"/>
              <a:gd name="connsiteY29" fmla="*/ 137939 h 606722"/>
              <a:gd name="connsiteX30" fmla="*/ 607639 w 607639"/>
              <a:gd name="connsiteY30" fmla="*/ 231261 h 606722"/>
              <a:gd name="connsiteX31" fmla="*/ 579958 w 607639"/>
              <a:gd name="connsiteY31" fmla="*/ 238194 h 606722"/>
              <a:gd name="connsiteX32" fmla="*/ 552367 w 607639"/>
              <a:gd name="connsiteY32" fmla="*/ 245037 h 606722"/>
              <a:gd name="connsiteX33" fmla="*/ 355665 w 607639"/>
              <a:gd name="connsiteY33" fmla="*/ 294187 h 606722"/>
              <a:gd name="connsiteX34" fmla="*/ 251974 w 607639"/>
              <a:gd name="connsiteY34" fmla="*/ 294187 h 606722"/>
              <a:gd name="connsiteX35" fmla="*/ 55272 w 607639"/>
              <a:gd name="connsiteY35" fmla="*/ 245037 h 606722"/>
              <a:gd name="connsiteX36" fmla="*/ 27592 w 607639"/>
              <a:gd name="connsiteY36" fmla="*/ 238194 h 606722"/>
              <a:gd name="connsiteX37" fmla="*/ 0 w 607639"/>
              <a:gd name="connsiteY37" fmla="*/ 231261 h 606722"/>
              <a:gd name="connsiteX38" fmla="*/ 0 w 607639"/>
              <a:gd name="connsiteY38" fmla="*/ 137939 h 606722"/>
              <a:gd name="connsiteX39" fmla="*/ 27592 w 607639"/>
              <a:gd name="connsiteY39" fmla="*/ 110298 h 606722"/>
              <a:gd name="connsiteX40" fmla="*/ 184152 w 607639"/>
              <a:gd name="connsiteY40" fmla="*/ 110298 h 606722"/>
              <a:gd name="connsiteX41" fmla="*/ 184152 w 607639"/>
              <a:gd name="connsiteY41" fmla="*/ 27552 h 606722"/>
              <a:gd name="connsiteX42" fmla="*/ 211744 w 607639"/>
              <a:gd name="connsiteY4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07639" h="606722">
                <a:moveTo>
                  <a:pt x="276193" y="349370"/>
                </a:moveTo>
                <a:lnTo>
                  <a:pt x="331446" y="349370"/>
                </a:lnTo>
                <a:lnTo>
                  <a:pt x="331446" y="404482"/>
                </a:lnTo>
                <a:lnTo>
                  <a:pt x="276193" y="404482"/>
                </a:lnTo>
                <a:close/>
                <a:moveTo>
                  <a:pt x="0" y="288119"/>
                </a:moveTo>
                <a:lnTo>
                  <a:pt x="27592" y="294962"/>
                </a:lnTo>
                <a:lnTo>
                  <a:pt x="55272" y="301894"/>
                </a:lnTo>
                <a:lnTo>
                  <a:pt x="220911" y="343219"/>
                </a:lnTo>
                <a:lnTo>
                  <a:pt x="220911" y="432001"/>
                </a:lnTo>
                <a:cubicBezTo>
                  <a:pt x="220911" y="447287"/>
                  <a:pt x="233283" y="459640"/>
                  <a:pt x="248592" y="459640"/>
                </a:cubicBezTo>
                <a:lnTo>
                  <a:pt x="359047" y="459640"/>
                </a:lnTo>
                <a:cubicBezTo>
                  <a:pt x="374267" y="459640"/>
                  <a:pt x="386639" y="447287"/>
                  <a:pt x="386639" y="432001"/>
                </a:cubicBezTo>
                <a:lnTo>
                  <a:pt x="386639" y="343219"/>
                </a:lnTo>
                <a:lnTo>
                  <a:pt x="552367" y="301894"/>
                </a:lnTo>
                <a:lnTo>
                  <a:pt x="579958" y="294962"/>
                </a:lnTo>
                <a:lnTo>
                  <a:pt x="607639" y="288119"/>
                </a:lnTo>
                <a:lnTo>
                  <a:pt x="607639" y="579083"/>
                </a:lnTo>
                <a:cubicBezTo>
                  <a:pt x="607639" y="594369"/>
                  <a:pt x="595267" y="606722"/>
                  <a:pt x="579958" y="606722"/>
                </a:cubicBezTo>
                <a:lnTo>
                  <a:pt x="27592" y="606722"/>
                </a:lnTo>
                <a:cubicBezTo>
                  <a:pt x="12372" y="606722"/>
                  <a:pt x="0" y="594369"/>
                  <a:pt x="0" y="579083"/>
                </a:cubicBezTo>
                <a:close/>
                <a:moveTo>
                  <a:pt x="239335" y="55193"/>
                </a:moveTo>
                <a:lnTo>
                  <a:pt x="239335" y="110298"/>
                </a:lnTo>
                <a:lnTo>
                  <a:pt x="368215" y="110298"/>
                </a:lnTo>
                <a:lnTo>
                  <a:pt x="368215" y="55193"/>
                </a:lnTo>
                <a:close/>
                <a:moveTo>
                  <a:pt x="211744" y="0"/>
                </a:moveTo>
                <a:lnTo>
                  <a:pt x="395895" y="0"/>
                </a:lnTo>
                <a:cubicBezTo>
                  <a:pt x="411115" y="0"/>
                  <a:pt x="423487" y="12354"/>
                  <a:pt x="423487" y="27552"/>
                </a:cubicBezTo>
                <a:lnTo>
                  <a:pt x="423487" y="110298"/>
                </a:lnTo>
                <a:lnTo>
                  <a:pt x="579958" y="110298"/>
                </a:lnTo>
                <a:cubicBezTo>
                  <a:pt x="595267" y="110298"/>
                  <a:pt x="607639" y="122652"/>
                  <a:pt x="607639" y="137939"/>
                </a:cubicBezTo>
                <a:lnTo>
                  <a:pt x="607639" y="231261"/>
                </a:lnTo>
                <a:lnTo>
                  <a:pt x="579958" y="238194"/>
                </a:lnTo>
                <a:lnTo>
                  <a:pt x="552367" y="245037"/>
                </a:lnTo>
                <a:lnTo>
                  <a:pt x="355665" y="294187"/>
                </a:lnTo>
                <a:lnTo>
                  <a:pt x="251974" y="294187"/>
                </a:lnTo>
                <a:lnTo>
                  <a:pt x="55272" y="245037"/>
                </a:lnTo>
                <a:lnTo>
                  <a:pt x="27592" y="238194"/>
                </a:lnTo>
                <a:lnTo>
                  <a:pt x="0" y="231261"/>
                </a:lnTo>
                <a:lnTo>
                  <a:pt x="0" y="137939"/>
                </a:lnTo>
                <a:cubicBezTo>
                  <a:pt x="0" y="122652"/>
                  <a:pt x="12372" y="110298"/>
                  <a:pt x="27592" y="110298"/>
                </a:cubicBezTo>
                <a:lnTo>
                  <a:pt x="184152" y="110298"/>
                </a:lnTo>
                <a:lnTo>
                  <a:pt x="184152" y="27552"/>
                </a:lnTo>
                <a:cubicBezTo>
                  <a:pt x="184152" y="12354"/>
                  <a:pt x="196524" y="0"/>
                  <a:pt x="211744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0385" y="1578610"/>
            <a:ext cx="3732530" cy="163258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27875" y="2880995"/>
            <a:ext cx="3733165" cy="181927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8625" y="4495800"/>
            <a:ext cx="3793490" cy="193357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5" name="矩形 14"/>
          <p:cNvSpPr/>
          <p:nvPr/>
        </p:nvSpPr>
        <p:spPr>
          <a:xfrm>
            <a:off x="9072880" y="4763770"/>
            <a:ext cx="593090" cy="26543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574280" y="3569970"/>
            <a:ext cx="3223260" cy="33528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669020" y="2106295"/>
            <a:ext cx="3152775" cy="42037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研究设计与样本说明</a:t>
            </a:r>
            <a:endParaRPr lang="zh-CN" altLang="en-US" dirty="0"/>
          </a:p>
        </p:txBody>
      </p: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466090" y="2158366"/>
            <a:ext cx="10123170" cy="3228952"/>
            <a:chOff x="660400" y="2868119"/>
            <a:chExt cx="10123170" cy="3228952"/>
          </a:xfrm>
        </p:grpSpPr>
        <p:sp>
          <p:nvSpPr>
            <p:cNvPr id="29" name="矩形 28"/>
            <p:cNvSpPr>
              <a:spLocks noChangeAspect="1"/>
            </p:cNvSpPr>
            <p:nvPr/>
          </p:nvSpPr>
          <p:spPr>
            <a:xfrm>
              <a:off x="8735188" y="3824940"/>
              <a:ext cx="2048382" cy="6496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tx1"/>
                  </a:solidFill>
                </a:rPr>
                <a:t>单击此处添加标题</a:t>
              </a:r>
              <a:endParaRPr lang="en-US" dirty="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60400" y="2868119"/>
              <a:ext cx="3529080" cy="2805947"/>
              <a:chOff x="660400" y="2868119"/>
              <a:chExt cx="3529080" cy="2805947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663133" y="2868119"/>
                <a:ext cx="3526347" cy="1367107"/>
                <a:chOff x="3594436" y="2865485"/>
                <a:chExt cx="3526347" cy="1367107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4586107" y="2865485"/>
                  <a:ext cx="2534676" cy="1367107"/>
                  <a:chOff x="8687068" y="3335694"/>
                  <a:chExt cx="2921855" cy="1367107"/>
                </a:xfrm>
              </p:grpSpPr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8687068" y="3335694"/>
                    <a:ext cx="2660088" cy="43894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r>
                      <a:rPr lang="zh-CN" altLang="en-US" b="1" dirty="0"/>
                      <a:t>样本选取</a:t>
                    </a:r>
                    <a:endParaRPr lang="zh-CN" altLang="en-US" b="1" dirty="0"/>
                  </a:p>
                </p:txBody>
              </p:sp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8689996" y="3812108"/>
                    <a:ext cx="2918927" cy="890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  <a:defRPr/>
                    </a:pPr>
                    <a:r>
                      <a:rPr lang="en-US" altLang="zh-CN" dirty="0"/>
                      <a:t>37 </a:t>
                    </a:r>
                    <a:r>
                      <a:rPr lang="zh-CN" altLang="en-US" dirty="0"/>
                      <a:t>家核心代表性企业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25" name="圆角矩形 24"/>
                <p:cNvSpPr>
                  <a:spLocks noChangeAspect="1"/>
                </p:cNvSpPr>
                <p:nvPr/>
              </p:nvSpPr>
              <p:spPr>
                <a:xfrm>
                  <a:off x="3594436" y="2899075"/>
                  <a:ext cx="844495" cy="405051"/>
                </a:xfrm>
                <a:prstGeom prst="roundRect">
                  <a:avLst>
                    <a:gd name="adj" fmla="val 16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77800" dist="152400" dir="2700000" algn="tl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rmAutofit/>
                </a:bodyPr>
                <a:lstStyle/>
                <a:p>
                  <a:pPr algn="ctr"/>
                  <a:r>
                    <a:rPr kumimoji="1" lang="en-US" altLang="zh-CN" b="1">
                      <a:solidFill>
                        <a:srgbClr val="FFFFFF"/>
                      </a:solidFill>
                    </a:rPr>
                    <a:t>01</a:t>
                  </a:r>
                  <a:endParaRPr kumimoji="1" lang="en-US" altLang="zh-CN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60400" y="4715216"/>
                <a:ext cx="3526784" cy="958850"/>
                <a:chOff x="3591703" y="4133835"/>
                <a:chExt cx="3526784" cy="958850"/>
              </a:xfrm>
            </p:grpSpPr>
            <p:grpSp>
              <p:nvGrpSpPr>
                <p:cNvPr id="20" name="组合 19"/>
                <p:cNvGrpSpPr/>
                <p:nvPr/>
              </p:nvGrpSpPr>
              <p:grpSpPr>
                <a:xfrm>
                  <a:off x="4586107" y="4133835"/>
                  <a:ext cx="2532380" cy="958850"/>
                  <a:chOff x="8687068" y="4183320"/>
                  <a:chExt cx="2919208" cy="958850"/>
                </a:xfrm>
              </p:grpSpPr>
              <p:sp>
                <p:nvSpPr>
                  <p:cNvPr id="22" name="文本框 21"/>
                  <p:cNvSpPr txBox="1"/>
                  <p:nvPr/>
                </p:nvSpPr>
                <p:spPr>
                  <a:xfrm>
                    <a:off x="8687068" y="4183320"/>
                    <a:ext cx="2660088" cy="43894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r>
                      <a:rPr lang="zh-CN" altLang="en-US" b="1" dirty="0"/>
                      <a:t>分类标准</a:t>
                    </a:r>
                    <a:endParaRPr lang="zh-CN" altLang="en-US" b="1" dirty="0"/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8687068" y="4674175"/>
                    <a:ext cx="2919208" cy="46799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  <a:defRPr/>
                    </a:pPr>
                    <a:r>
                      <a:rPr lang="zh-CN" altLang="en-US" dirty="0"/>
                      <a:t>八大战略领域</a:t>
                    </a:r>
                    <a:endParaRPr lang="zh-CN" altLang="en-US" dirty="0"/>
                  </a:p>
                  <a:p>
                    <a:pPr>
                      <a:lnSpc>
                        <a:spcPct val="120000"/>
                      </a:lnSpc>
                      <a:defRPr/>
                    </a:pPr>
                    <a:endParaRPr lang="zh-CN" altLang="en-US" dirty="0"/>
                  </a:p>
                </p:txBody>
              </p:sp>
            </p:grpSp>
            <p:sp>
              <p:nvSpPr>
                <p:cNvPr id="21" name="圆角矩形 20"/>
                <p:cNvSpPr>
                  <a:spLocks noChangeAspect="1"/>
                </p:cNvSpPr>
                <p:nvPr/>
              </p:nvSpPr>
              <p:spPr>
                <a:xfrm>
                  <a:off x="3591703" y="4138541"/>
                  <a:ext cx="844495" cy="405051"/>
                </a:xfrm>
                <a:prstGeom prst="roundRect">
                  <a:avLst>
                    <a:gd name="adj" fmla="val 16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77800" dist="152400" dir="2700000" algn="tl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rmAutofit/>
                </a:bodyPr>
                <a:lstStyle/>
                <a:p>
                  <a:pPr algn="ctr"/>
                  <a:r>
                    <a:rPr kumimoji="1" lang="en-US" altLang="zh-CN" b="1">
                      <a:solidFill>
                        <a:srgbClr val="FFFFFF"/>
                      </a:solidFill>
                    </a:rPr>
                    <a:t>03</a:t>
                  </a:r>
                  <a:endParaRPr kumimoji="1" lang="en-US" altLang="zh-CN" b="1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4189673" y="2868119"/>
              <a:ext cx="3523807" cy="1367107"/>
              <a:chOff x="3594436" y="2865485"/>
              <a:chExt cx="3523807" cy="1367107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4586107" y="2865485"/>
                <a:ext cx="2532136" cy="1367107"/>
                <a:chOff x="8687068" y="3335694"/>
                <a:chExt cx="2918927" cy="1367107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8687068" y="3335694"/>
                  <a:ext cx="2660088" cy="438947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r>
                    <a:rPr lang="zh-CN" altLang="en-US" b="1" dirty="0"/>
                    <a:t>数据处理</a:t>
                  </a:r>
                  <a:endParaRPr lang="zh-CN" altLang="en-US" b="1" dirty="0"/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8687068" y="3812108"/>
                  <a:ext cx="2918927" cy="890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zh-CN" altLang="en-US" dirty="0"/>
                    <a:t>外币折算</a:t>
                  </a:r>
                  <a:endParaRPr lang="zh-CN" altLang="en-US" dirty="0"/>
                </a:p>
                <a:p>
                  <a:pPr>
                    <a:lnSpc>
                      <a:spcPct val="120000"/>
                    </a:lnSpc>
                    <a:defRPr/>
                  </a:pPr>
                  <a:r>
                    <a:rPr lang="zh-CN" altLang="en-US" dirty="0"/>
                    <a:t>长尾数据对数化处理</a:t>
                  </a:r>
                  <a:endParaRPr lang="zh-CN" altLang="en-US" dirty="0"/>
                </a:p>
              </p:txBody>
            </p:sp>
          </p:grpSp>
          <p:sp>
            <p:nvSpPr>
              <p:cNvPr id="15" name="圆角矩形 14"/>
              <p:cNvSpPr>
                <a:spLocks noChangeAspect="1"/>
              </p:cNvSpPr>
              <p:nvPr/>
            </p:nvSpPr>
            <p:spPr>
              <a:xfrm>
                <a:off x="3594436" y="2899075"/>
                <a:ext cx="844495" cy="405051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FFFFFF"/>
                    </a:solidFill>
                  </a:rPr>
                  <a:t>02</a:t>
                </a:r>
                <a:endParaRPr kumimoji="1" lang="en-US" altLang="zh-CN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4186940" y="4715216"/>
              <a:ext cx="3526540" cy="1381855"/>
              <a:chOff x="3591703" y="4133835"/>
              <a:chExt cx="3526540" cy="1381855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4586107" y="4133835"/>
                <a:ext cx="2532136" cy="1381855"/>
                <a:chOff x="8687068" y="4183320"/>
                <a:chExt cx="2918927" cy="1381855"/>
              </a:xfrm>
            </p:grpSpPr>
            <p:sp>
              <p:nvSpPr>
                <p:cNvPr id="12" name="文本框 11"/>
                <p:cNvSpPr txBox="1"/>
                <p:nvPr/>
              </p:nvSpPr>
              <p:spPr>
                <a:xfrm>
                  <a:off x="8687068" y="4183320"/>
                  <a:ext cx="2660088" cy="438947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r>
                    <a:rPr lang="zh-CN" altLang="en-US" b="1" dirty="0"/>
                    <a:t>分析方法</a:t>
                  </a:r>
                  <a:endParaRPr lang="zh-CN" altLang="en-US" b="1" dirty="0"/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8687068" y="4674482"/>
                  <a:ext cx="2918927" cy="890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zh-CN" altLang="en-US" dirty="0"/>
                    <a:t>聚类分析</a:t>
                  </a:r>
                  <a:endParaRPr lang="zh-CN" altLang="en-US" dirty="0"/>
                </a:p>
                <a:p>
                  <a:pPr>
                    <a:lnSpc>
                      <a:spcPct val="120000"/>
                    </a:lnSpc>
                    <a:defRPr/>
                  </a:pPr>
                  <a:r>
                    <a:rPr lang="zh-CN" altLang="en-US" dirty="0"/>
                    <a:t>回归模型</a:t>
                  </a:r>
                  <a:endParaRPr lang="zh-CN" altLang="en-US" dirty="0"/>
                </a:p>
              </p:txBody>
            </p:sp>
          </p:grpSp>
          <p:sp>
            <p:nvSpPr>
              <p:cNvPr id="11" name="圆角矩形 10"/>
              <p:cNvSpPr>
                <a:spLocks noChangeAspect="1"/>
              </p:cNvSpPr>
              <p:nvPr/>
            </p:nvSpPr>
            <p:spPr>
              <a:xfrm>
                <a:off x="3591703" y="4138541"/>
                <a:ext cx="844495" cy="405051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</a:rPr>
                  <a:t>04</a:t>
                </a:r>
                <a:endParaRPr kumimoji="1" lang="en-US" altLang="zh-CN" b="1" dirty="0">
                  <a:solidFill>
                    <a:srgbClr val="FFFFFF"/>
                  </a:solidFill>
                </a:endParaRPr>
              </a:p>
            </p:txBody>
          </p:sp>
        </p:grpSp>
      </p:grpSp>
      <p:graphicFrame>
        <p:nvGraphicFramePr>
          <p:cNvPr id="3" name="表格 2"/>
          <p:cNvGraphicFramePr/>
          <p:nvPr/>
        </p:nvGraphicFramePr>
        <p:xfrm>
          <a:off x="7522210" y="1208405"/>
          <a:ext cx="4319270" cy="5457825"/>
        </p:xfrm>
        <a:graphic>
          <a:graphicData uri="http://schemas.openxmlformats.org/drawingml/2006/table">
            <a:tbl>
              <a:tblPr/>
              <a:tblGrid>
                <a:gridCol w="2159635"/>
                <a:gridCol w="2159635"/>
              </a:tblGrid>
              <a:tr h="12128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数据要素类别</a:t>
                      </a:r>
                      <a:endParaRPr lang="zh-CN" sz="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企业名称</a:t>
                      </a:r>
                      <a:endParaRPr lang="zh-CN" sz="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6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数据采集</a:t>
                      </a:r>
                      <a:r>
                        <a:rPr lang="en-US" alt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标注</a:t>
                      </a:r>
                      <a:r>
                        <a:rPr lang="en-US" alt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清洗服务商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杭州曼孚科技有限公司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浙江大华技术股份有限公司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杭州宇视科技有限公司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杭州海康威视数字技术股份有限公司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杭州当虹科技股份有限公司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杭州萤石网络股份有限公司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数据交易平台或数据经纪商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连连数字科技股份有限公司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杭州市数据要素创新中心有限公司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阿里巴巴（中国）有限公司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5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数据治理、数据资产管理、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数据合规咨询公司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杭州袋鼠云科技有限公司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杭州半云科技有限公司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浙江汇信科技有限公司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杭州企数智联科技有限公司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杭州华量软件有限公司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10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大数据平台开发商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（政务、医疗、金融等行业）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火石创造科技有限公司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创业慧康科技股份有限公司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浙江和仁科技股份有限公司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杭州泰格医药科技股份有限公司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恒生电子股份有限公司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新华三技术有限公司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杭州优云科技股份有限公司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杭州中控技术股份有限公司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杭州聚光科技股份有限公司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杭州安脉盛智能技术有限公司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5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模型训练数据服务商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杭州曼孚科技有限公司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虹软科技股份有限公司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杭州乒乓智能技术有限公司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杭州北冥星火科技有限公司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杭州睿琪软件有限公司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5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数据安全与隐私计算企业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杭州趣链科技有限公司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杭州迪普科技股份有限公司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杭州安恒信息技术股份有限公司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杭州合众数据技术有限公司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信雅达科技股份有限公司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数据确权、估值、交易配套服务企业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杭州趣链科技有限公司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阿里巴巴（中国）有限公司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杭州市数据要素创新中心有限公司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rowSpan="7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基于数据要素开发</a:t>
                      </a:r>
                      <a:r>
                        <a:rPr lang="zh-CN" altLang="en-US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SaaS </a:t>
                      </a: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或提供数据驱动决策服务的企业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浙江众合科技股份有限公司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帕科视讯科技（杭州）股份有限公司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杭州拓深科技有限公司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杭州光云科技股份有限公司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杭州安脉盛智能技术有限公司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杭州中控技术股份有限公司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21285">
                <a:tc vMerge="1">
                  <a:tcPr>
                    <a:lnL>
                      <a:noFill/>
                    </a:lnL>
                    <a:lnR>
                      <a:noFill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algn="ctr" fontAlgn="b">
                        <a:buClrTx/>
                        <a:buSzTx/>
                        <a:buFontTx/>
                      </a:pPr>
                      <a:r>
                        <a:rPr lang="zh-CN" sz="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杭州睿琪软件有限公司</a:t>
                      </a:r>
                      <a:endParaRPr lang="zh-CN" sz="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数据要素企业全景扫描</a:t>
            </a:r>
            <a:endParaRPr lang="en-US" dirty="0"/>
          </a:p>
        </p:txBody>
      </p:sp>
      <p:sp>
        <p:nvSpPr>
          <p:cNvPr id="2" name="文本占位符 1"/>
          <p:cNvSpPr/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产业结构与企业分布</a:t>
            </a:r>
            <a:endParaRPr lang="zh-CN" altLang="en-US" dirty="0"/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083628" y="1747520"/>
            <a:ext cx="2981325" cy="388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上游层（数据源）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083945" y="2193290"/>
            <a:ext cx="3239135" cy="8801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以海康威视、大华股份为代表，提供最原始、最丰富的基础资源。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>
            <a:off x="821373" y="3236595"/>
            <a:ext cx="3363595" cy="1592580"/>
          </a:xfrm>
          <a:custGeom>
            <a:avLst/>
            <a:gdLst>
              <a:gd name="connsiteX0" fmla="*/ 0 w 6275"/>
              <a:gd name="connsiteY0" fmla="*/ 651 h 2662"/>
              <a:gd name="connsiteX1" fmla="*/ 4944 w 6275"/>
              <a:gd name="connsiteY1" fmla="*/ 666 h 2662"/>
              <a:gd name="connsiteX2" fmla="*/ 4944 w 6275"/>
              <a:gd name="connsiteY2" fmla="*/ 0 h 2662"/>
              <a:gd name="connsiteX3" fmla="*/ 6275 w 6275"/>
              <a:gd name="connsiteY3" fmla="*/ 1331 h 2662"/>
              <a:gd name="connsiteX4" fmla="*/ 4944 w 6275"/>
              <a:gd name="connsiteY4" fmla="*/ 2662 h 2662"/>
              <a:gd name="connsiteX5" fmla="*/ 4944 w 6275"/>
              <a:gd name="connsiteY5" fmla="*/ 1997 h 2662"/>
              <a:gd name="connsiteX6" fmla="*/ 0 w 6275"/>
              <a:gd name="connsiteY6" fmla="*/ 2006 h 2662"/>
              <a:gd name="connsiteX7" fmla="*/ 710 w 6275"/>
              <a:gd name="connsiteY7" fmla="*/ 1296 h 2662"/>
              <a:gd name="connsiteX8" fmla="*/ 0 w 6275"/>
              <a:gd name="connsiteY8" fmla="*/ 651 h 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75" h="2662">
                <a:moveTo>
                  <a:pt x="0" y="651"/>
                </a:moveTo>
                <a:lnTo>
                  <a:pt x="4944" y="666"/>
                </a:lnTo>
                <a:lnTo>
                  <a:pt x="4944" y="0"/>
                </a:lnTo>
                <a:lnTo>
                  <a:pt x="6275" y="1331"/>
                </a:lnTo>
                <a:lnTo>
                  <a:pt x="4944" y="2662"/>
                </a:lnTo>
                <a:lnTo>
                  <a:pt x="4944" y="1997"/>
                </a:lnTo>
                <a:lnTo>
                  <a:pt x="0" y="2006"/>
                </a:lnTo>
                <a:lnTo>
                  <a:pt x="710" y="1296"/>
                </a:lnTo>
                <a:lnTo>
                  <a:pt x="0" y="651"/>
                </a:lnTo>
                <a:close/>
              </a:path>
            </a:pathLst>
          </a:custGeom>
          <a:gradFill>
            <a:gsLst>
              <a:gs pos="16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7970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2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2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4"/>
            </p:custDataLst>
          </p:nvPr>
        </p:nvCxnSpPr>
        <p:spPr>
          <a:xfrm flipH="1">
            <a:off x="820103" y="1724660"/>
            <a:ext cx="1270" cy="1904365"/>
          </a:xfrm>
          <a:prstGeom prst="line">
            <a:avLst/>
          </a:prstGeom>
          <a:ln w="3175">
            <a:solidFill>
              <a:schemeClr val="accent1">
                <a:alpha val="44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631373" y="4931410"/>
            <a:ext cx="2981325" cy="388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中游层（价值转化）</a:t>
            </a:r>
            <a:endParaRPr lang="zh-CN" altLang="en-US" sz="22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6"/>
            </p:custDataLst>
          </p:nvPr>
        </p:nvSpPr>
        <p:spPr>
          <a:xfrm>
            <a:off x="4631690" y="5377815"/>
            <a:ext cx="3250565" cy="7734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以火石创造、半云科技等企业为代表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进行数据治理与平台化。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7"/>
            </p:custDataLst>
          </p:nvPr>
        </p:nvCxnSpPr>
        <p:spPr>
          <a:xfrm>
            <a:off x="4383723" y="4436745"/>
            <a:ext cx="14605" cy="1691005"/>
          </a:xfrm>
          <a:prstGeom prst="line">
            <a:avLst/>
          </a:prstGeom>
          <a:ln w="3175">
            <a:solidFill>
              <a:schemeClr val="accent2">
                <a:alpha val="44000"/>
              </a:schemeClr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8225473" y="1747520"/>
            <a:ext cx="2981325" cy="388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下游层（价值实现）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8225473" y="2193290"/>
            <a:ext cx="2981325" cy="7734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以安恒信息、恒生电子为代表，实现高阶价值兑现。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0"/>
            </p:custDataLst>
          </p:nvPr>
        </p:nvCxnSpPr>
        <p:spPr>
          <a:xfrm>
            <a:off x="7944803" y="1720215"/>
            <a:ext cx="635" cy="1905635"/>
          </a:xfrm>
          <a:prstGeom prst="line">
            <a:avLst/>
          </a:prstGeom>
          <a:ln w="3175">
            <a:solidFill>
              <a:schemeClr val="accent1">
                <a:alpha val="44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任意多边形 44"/>
          <p:cNvSpPr/>
          <p:nvPr>
            <p:custDataLst>
              <p:tags r:id="rId11"/>
            </p:custDataLst>
          </p:nvPr>
        </p:nvSpPr>
        <p:spPr>
          <a:xfrm>
            <a:off x="4383723" y="3236595"/>
            <a:ext cx="3363595" cy="1592580"/>
          </a:xfrm>
          <a:custGeom>
            <a:avLst/>
            <a:gdLst>
              <a:gd name="connsiteX0" fmla="*/ 0 w 6275"/>
              <a:gd name="connsiteY0" fmla="*/ 651 h 2662"/>
              <a:gd name="connsiteX1" fmla="*/ 4944 w 6275"/>
              <a:gd name="connsiteY1" fmla="*/ 666 h 2662"/>
              <a:gd name="connsiteX2" fmla="*/ 4944 w 6275"/>
              <a:gd name="connsiteY2" fmla="*/ 0 h 2662"/>
              <a:gd name="connsiteX3" fmla="*/ 6275 w 6275"/>
              <a:gd name="connsiteY3" fmla="*/ 1331 h 2662"/>
              <a:gd name="connsiteX4" fmla="*/ 4944 w 6275"/>
              <a:gd name="connsiteY4" fmla="*/ 2662 h 2662"/>
              <a:gd name="connsiteX5" fmla="*/ 4944 w 6275"/>
              <a:gd name="connsiteY5" fmla="*/ 1997 h 2662"/>
              <a:gd name="connsiteX6" fmla="*/ 0 w 6275"/>
              <a:gd name="connsiteY6" fmla="*/ 2006 h 2662"/>
              <a:gd name="connsiteX7" fmla="*/ 710 w 6275"/>
              <a:gd name="connsiteY7" fmla="*/ 1296 h 2662"/>
              <a:gd name="connsiteX8" fmla="*/ 0 w 6275"/>
              <a:gd name="connsiteY8" fmla="*/ 651 h 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75" h="2662">
                <a:moveTo>
                  <a:pt x="0" y="651"/>
                </a:moveTo>
                <a:lnTo>
                  <a:pt x="4944" y="666"/>
                </a:lnTo>
                <a:lnTo>
                  <a:pt x="4944" y="0"/>
                </a:lnTo>
                <a:lnTo>
                  <a:pt x="6275" y="1331"/>
                </a:lnTo>
                <a:lnTo>
                  <a:pt x="4944" y="2662"/>
                </a:lnTo>
                <a:lnTo>
                  <a:pt x="4944" y="1997"/>
                </a:lnTo>
                <a:lnTo>
                  <a:pt x="0" y="2006"/>
                </a:lnTo>
                <a:lnTo>
                  <a:pt x="710" y="1296"/>
                </a:lnTo>
                <a:lnTo>
                  <a:pt x="0" y="651"/>
                </a:lnTo>
                <a:close/>
              </a:path>
            </a:pathLst>
          </a:custGeom>
          <a:gradFill>
            <a:gsLst>
              <a:gs pos="16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7970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2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2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任意多边形 46"/>
          <p:cNvSpPr/>
          <p:nvPr>
            <p:custDataLst>
              <p:tags r:id="rId12"/>
            </p:custDataLst>
          </p:nvPr>
        </p:nvSpPr>
        <p:spPr>
          <a:xfrm>
            <a:off x="7945438" y="3236595"/>
            <a:ext cx="3363595" cy="1592580"/>
          </a:xfrm>
          <a:custGeom>
            <a:avLst/>
            <a:gdLst>
              <a:gd name="connsiteX0" fmla="*/ 0 w 6275"/>
              <a:gd name="connsiteY0" fmla="*/ 651 h 2662"/>
              <a:gd name="connsiteX1" fmla="*/ 4944 w 6275"/>
              <a:gd name="connsiteY1" fmla="*/ 666 h 2662"/>
              <a:gd name="connsiteX2" fmla="*/ 4944 w 6275"/>
              <a:gd name="connsiteY2" fmla="*/ 0 h 2662"/>
              <a:gd name="connsiteX3" fmla="*/ 6275 w 6275"/>
              <a:gd name="connsiteY3" fmla="*/ 1331 h 2662"/>
              <a:gd name="connsiteX4" fmla="*/ 4944 w 6275"/>
              <a:gd name="connsiteY4" fmla="*/ 2662 h 2662"/>
              <a:gd name="connsiteX5" fmla="*/ 4944 w 6275"/>
              <a:gd name="connsiteY5" fmla="*/ 1997 h 2662"/>
              <a:gd name="connsiteX6" fmla="*/ 0 w 6275"/>
              <a:gd name="connsiteY6" fmla="*/ 2006 h 2662"/>
              <a:gd name="connsiteX7" fmla="*/ 710 w 6275"/>
              <a:gd name="connsiteY7" fmla="*/ 1296 h 2662"/>
              <a:gd name="connsiteX8" fmla="*/ 0 w 6275"/>
              <a:gd name="connsiteY8" fmla="*/ 651 h 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75" h="2662">
                <a:moveTo>
                  <a:pt x="0" y="651"/>
                </a:moveTo>
                <a:lnTo>
                  <a:pt x="4944" y="666"/>
                </a:lnTo>
                <a:lnTo>
                  <a:pt x="4944" y="0"/>
                </a:lnTo>
                <a:lnTo>
                  <a:pt x="6275" y="1331"/>
                </a:lnTo>
                <a:lnTo>
                  <a:pt x="4944" y="2662"/>
                </a:lnTo>
                <a:lnTo>
                  <a:pt x="4944" y="1997"/>
                </a:lnTo>
                <a:lnTo>
                  <a:pt x="0" y="2006"/>
                </a:lnTo>
                <a:lnTo>
                  <a:pt x="710" y="1296"/>
                </a:lnTo>
                <a:lnTo>
                  <a:pt x="0" y="651"/>
                </a:lnTo>
                <a:close/>
              </a:path>
            </a:pathLst>
          </a:custGeom>
          <a:gradFill>
            <a:gsLst>
              <a:gs pos="16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7970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2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2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8" name="图片 47"/>
          <p:cNvPicPr/>
          <p:nvPr/>
        </p:nvPicPr>
        <p:blipFill>
          <a:blip r:embed="rId13"/>
          <a:stretch>
            <a:fillRect/>
          </a:stretch>
        </p:blipFill>
        <p:spPr>
          <a:xfrm>
            <a:off x="1387475" y="4739640"/>
            <a:ext cx="1556385" cy="580390"/>
          </a:xfrm>
          <a:prstGeom prst="rect">
            <a:avLst/>
          </a:prstGeom>
        </p:spPr>
      </p:pic>
      <p:pic>
        <p:nvPicPr>
          <p:cNvPr id="49" name="图片 48"/>
          <p:cNvPicPr/>
          <p:nvPr/>
        </p:nvPicPr>
        <p:blipFill>
          <a:blip r:embed="rId14"/>
          <a:stretch>
            <a:fillRect/>
          </a:stretch>
        </p:blipFill>
        <p:spPr>
          <a:xfrm>
            <a:off x="1387475" y="5402580"/>
            <a:ext cx="1539875" cy="810895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5"/>
          <a:stretch>
            <a:fillRect/>
          </a:stretch>
        </p:blipFill>
        <p:spPr>
          <a:xfrm>
            <a:off x="4748530" y="1451610"/>
            <a:ext cx="2159000" cy="979805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6"/>
          <a:stretch>
            <a:fillRect/>
          </a:stretch>
        </p:blipFill>
        <p:spPr>
          <a:xfrm>
            <a:off x="4953000" y="1838960"/>
            <a:ext cx="1905000" cy="1714500"/>
          </a:xfrm>
          <a:prstGeom prst="rect">
            <a:avLst/>
          </a:prstGeom>
        </p:spPr>
      </p:pic>
      <p:pic>
        <p:nvPicPr>
          <p:cNvPr id="52" name="图片 51"/>
          <p:cNvPicPr/>
          <p:nvPr/>
        </p:nvPicPr>
        <p:blipFill>
          <a:blip r:embed="rId17"/>
          <a:stretch>
            <a:fillRect/>
          </a:stretch>
        </p:blipFill>
        <p:spPr>
          <a:xfrm>
            <a:off x="8331200" y="4739640"/>
            <a:ext cx="2092960" cy="70993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8"/>
          <a:srcRect l="452" t="25449" b="19494"/>
          <a:stretch>
            <a:fillRect/>
          </a:stretch>
        </p:blipFill>
        <p:spPr>
          <a:xfrm>
            <a:off x="8464550" y="5530850"/>
            <a:ext cx="1959610" cy="648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987425" y="4325620"/>
            <a:ext cx="10282555" cy="1983740"/>
            <a:chOff x="1035050" y="4325257"/>
            <a:chExt cx="10282555" cy="1983740"/>
          </a:xfrm>
        </p:grpSpPr>
        <p:sp>
          <p:nvSpPr>
            <p:cNvPr id="26" name="圆角矩形 25"/>
            <p:cNvSpPr/>
            <p:nvPr>
              <p:custDataLst>
                <p:tags r:id="rId1"/>
              </p:custDataLst>
            </p:nvPr>
          </p:nvSpPr>
          <p:spPr>
            <a:xfrm>
              <a:off x="1729105" y="4325257"/>
              <a:ext cx="8634095" cy="1983740"/>
            </a:xfrm>
            <a:prstGeom prst="roundRect">
              <a:avLst>
                <a:gd name="adj" fmla="val 5097"/>
              </a:avLst>
            </a:prstGeom>
            <a:solidFill>
              <a:schemeClr val="accent1"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"/>
              </p:custDataLst>
            </p:nvPr>
          </p:nvSpPr>
          <p:spPr>
            <a:xfrm>
              <a:off x="1035050" y="4405902"/>
              <a:ext cx="10282555" cy="170624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 anchorCtr="1">
              <a:no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indent="0" algn="l" fontAlgn="auto"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规模结构：企业规模呈现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头部主导，梯次递减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特征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成立年限：全周期覆盖，20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00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-20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15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年成立企业占比 6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7.56</a:t>
              </a: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%（产业中坚）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高新属性：高新技术企业占比</a:t>
              </a:r>
              <a:r>
                <a:rPr lang="en-US" altLang="zh-CN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83.8%</a:t>
              </a:r>
              <a:endPara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资本趋势：早期企业资本规模更高，后期分化但整体走低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20000"/>
                </a:lnSpc>
              </a:pPr>
              <a:endPara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20000"/>
                </a:lnSpc>
              </a:pPr>
              <a:endPara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20000"/>
                </a:lnSpc>
              </a:pPr>
              <a:endPara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企业基础画像</a:t>
            </a:r>
            <a:endParaRPr lang="zh-CN" altLang="en-US" dirty="0"/>
          </a:p>
        </p:txBody>
      </p:sp>
      <p:pic>
        <p:nvPicPr>
          <p:cNvPr id="5" name="图片 9" descr="美化图1_蓝绿定制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6921" r="53445"/>
          <a:stretch>
            <a:fillRect/>
          </a:stretch>
        </p:blipFill>
        <p:spPr>
          <a:xfrm>
            <a:off x="7242810" y="1445895"/>
            <a:ext cx="2535555" cy="2543175"/>
          </a:xfrm>
          <a:prstGeom prst="rect">
            <a:avLst/>
          </a:prstGeom>
        </p:spPr>
      </p:pic>
      <p:pic>
        <p:nvPicPr>
          <p:cNvPr id="13" name="图片 9" descr="美化图1_蓝绿定制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57064" t="6921"/>
          <a:stretch>
            <a:fillRect/>
          </a:stretch>
        </p:blipFill>
        <p:spPr>
          <a:xfrm>
            <a:off x="63500" y="1365250"/>
            <a:ext cx="2261870" cy="2623820"/>
          </a:xfrm>
          <a:prstGeom prst="rect">
            <a:avLst/>
          </a:prstGeom>
        </p:spPr>
      </p:pic>
      <p:pic>
        <p:nvPicPr>
          <p:cNvPr id="24" name="图片 24" descr="高新占比_资本趋势_蓝色版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5816" r="56414"/>
          <a:stretch>
            <a:fillRect/>
          </a:stretch>
        </p:blipFill>
        <p:spPr>
          <a:xfrm>
            <a:off x="5208270" y="1358900"/>
            <a:ext cx="2103120" cy="2635250"/>
          </a:xfrm>
          <a:prstGeom prst="rect">
            <a:avLst/>
          </a:prstGeom>
        </p:spPr>
      </p:pic>
      <p:pic>
        <p:nvPicPr>
          <p:cNvPr id="20" name="图片 20" descr="企业生命周期与技术密度分析_最终调整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5713" t="5204" r="50900"/>
          <a:stretch>
            <a:fillRect/>
          </a:stretch>
        </p:blipFill>
        <p:spPr>
          <a:xfrm>
            <a:off x="1972310" y="1358900"/>
            <a:ext cx="3235960" cy="2635885"/>
          </a:xfrm>
          <a:prstGeom prst="rect">
            <a:avLst/>
          </a:prstGeom>
        </p:spPr>
      </p:pic>
      <p:pic>
        <p:nvPicPr>
          <p:cNvPr id="14" name="图片 24" descr="高新占比_资本趋势_蓝色版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7"/>
          <a:srcRect l="50000" t="5816"/>
          <a:stretch>
            <a:fillRect/>
          </a:stretch>
        </p:blipFill>
        <p:spPr>
          <a:xfrm>
            <a:off x="9702165" y="1416685"/>
            <a:ext cx="2418715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技术创新能力</a:t>
            </a:r>
            <a:endParaRPr lang="zh-CN" altLang="en-US" dirty="0"/>
          </a:p>
        </p:txBody>
      </p:sp>
      <p:grpSp>
        <p:nvGrpSpPr>
          <p:cNvPr id="34" name="组合 33" descr="7b0a202020202262756c6c6574223a20227b5c2263617465676f727949645c223a5c225c222c5c2274656d706c61746549645c223a32303233313731347d220a7d0a"/>
          <p:cNvGrpSpPr/>
          <p:nvPr>
            <p:custDataLst>
              <p:tags r:id="rId1"/>
            </p:custDataLst>
          </p:nvPr>
        </p:nvGrpSpPr>
        <p:grpSpPr>
          <a:xfrm>
            <a:off x="660401" y="1313029"/>
            <a:ext cx="10858500" cy="4821071"/>
            <a:chOff x="660401" y="1313029"/>
            <a:chExt cx="10858500" cy="4821071"/>
          </a:xfrm>
        </p:grpSpPr>
        <p:sp>
          <p:nvSpPr>
            <p:cNvPr id="20" name="圆角矩形 19"/>
            <p:cNvSpPr/>
            <p:nvPr>
              <p:custDataLst>
                <p:tags r:id="rId2"/>
              </p:custDataLst>
            </p:nvPr>
          </p:nvSpPr>
          <p:spPr>
            <a:xfrm>
              <a:off x="660401" y="1313029"/>
              <a:ext cx="4979300" cy="2308918"/>
            </a:xfrm>
            <a:prstGeom prst="roundRect">
              <a:avLst>
                <a:gd name="adj" fmla="val 521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77800" dist="1524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endParaRPr kumimoji="1" lang="zh-CN" altLang="en-US" b="1">
                <a:solidFill>
                  <a:srgbClr val="FFFFFF"/>
                </a:solidFill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60401" y="3825182"/>
              <a:ext cx="2427605" cy="2308918"/>
              <a:chOff x="698220" y="3777477"/>
              <a:chExt cx="2427605" cy="2308918"/>
            </a:xfrm>
          </p:grpSpPr>
          <p:sp>
            <p:nvSpPr>
              <p:cNvPr id="16" name="圆角矩形 15"/>
              <p:cNvSpPr/>
              <p:nvPr>
                <p:custDataLst>
                  <p:tags r:id="rId3"/>
                </p:custDataLst>
              </p:nvPr>
            </p:nvSpPr>
            <p:spPr>
              <a:xfrm>
                <a:off x="698220" y="3777477"/>
                <a:ext cx="2387494" cy="2308918"/>
              </a:xfrm>
              <a:prstGeom prst="roundRect">
                <a:avLst>
                  <a:gd name="adj" fmla="val 7974"/>
                </a:avLst>
              </a:prstGeom>
              <a:solidFill>
                <a:schemeClr val="accent2"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31240" y="4352152"/>
                <a:ext cx="2394585" cy="1414145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 fontScale="90000"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zh-CN" altLang="en-US" dirty="0"/>
                  <a:t>硬科技导向明显</a:t>
                </a:r>
                <a:endParaRPr lang="zh-CN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/>
                  <a:t>产业创新以硬核技术突破为主</a:t>
                </a:r>
                <a:endParaRPr lang="zh-CN" altLang="en-US" dirty="0"/>
              </a:p>
            </p:txBody>
          </p:sp>
          <p:sp>
            <p:nvSpPr>
              <p:cNvPr id="19" name="任意多边形 18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1702951" y="3923684"/>
                <a:ext cx="381985" cy="304173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kumimoji="1" lang="zh-CN" altLang="en-US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252207" y="3825182"/>
              <a:ext cx="2387494" cy="2308918"/>
              <a:chOff x="3205802" y="3777477"/>
              <a:chExt cx="2387494" cy="2308918"/>
            </a:xfrm>
          </p:grpSpPr>
          <p:sp>
            <p:nvSpPr>
              <p:cNvPr id="12" name="圆角矩形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3205802" y="3777477"/>
                <a:ext cx="2387494" cy="2308918"/>
              </a:xfrm>
              <a:prstGeom prst="roundRect">
                <a:avLst>
                  <a:gd name="adj" fmla="val 6316"/>
                </a:avLst>
              </a:prstGeom>
              <a:solidFill>
                <a:schemeClr val="accent2"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302322" y="4352152"/>
                <a:ext cx="2257425" cy="1414145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 fontScale="90000"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zh-CN" altLang="en-US" dirty="0"/>
                  <a:t>专利</a:t>
                </a:r>
                <a:r>
                  <a:rPr lang="en-US" altLang="zh-CN" dirty="0"/>
                  <a:t> 53705 </a:t>
                </a:r>
                <a:r>
                  <a:rPr lang="zh-CN" altLang="en-US" dirty="0"/>
                  <a:t>个</a:t>
                </a:r>
                <a:endParaRPr lang="zh-CN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/>
                  <a:t>软著</a:t>
                </a:r>
                <a:r>
                  <a:rPr lang="en-US" altLang="zh-CN" dirty="0"/>
                  <a:t> 8347 </a:t>
                </a:r>
                <a:r>
                  <a:rPr lang="zh-CN" altLang="en-US" dirty="0"/>
                  <a:t>个</a:t>
                </a:r>
                <a:endParaRPr lang="zh-CN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/>
                  <a:t>专利是软著的</a:t>
                </a:r>
                <a:r>
                  <a:rPr lang="en-US" altLang="zh-CN" dirty="0"/>
                  <a:t> 6.4 </a:t>
                </a:r>
                <a:r>
                  <a:rPr lang="zh-CN" altLang="en-US" dirty="0"/>
                  <a:t>倍</a:t>
                </a:r>
                <a:endParaRPr lang="zh-CN" altLang="en-US" dirty="0"/>
              </a:p>
            </p:txBody>
          </p:sp>
          <p:sp>
            <p:nvSpPr>
              <p:cNvPr id="15" name="任意多边形 14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4210533" y="3867269"/>
                <a:ext cx="380423" cy="417003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kumimoji="1" lang="zh-CN" altLang="en-US" b="1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6271896" y="1313029"/>
              <a:ext cx="5247005" cy="170751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 lnSpcReduction="20000"/>
            </a:bodyPr>
            <a:lstStyle/>
            <a:p>
              <a:pPr indent="0" fontAlgn="auto">
                <a:lnSpc>
                  <a:spcPct val="150000"/>
                </a:lnSpc>
                <a:buBlip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</a:buBlip>
              </a:pPr>
              <a:r>
                <a:rPr lang="zh-CN" altLang="en-US" b="1" dirty="0"/>
                <a:t>技术密度差异大</a:t>
              </a:r>
              <a:endParaRPr lang="zh-CN" altLang="en-US" b="1" dirty="0"/>
            </a:p>
            <a:p>
              <a:pPr indent="0" fontAlgn="auto">
                <a:lnSpc>
                  <a:spcPct val="150000"/>
                </a:lnSpc>
                <a:buBlip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</a:buBlip>
              </a:pPr>
              <a:r>
                <a:rPr lang="zh-CN" altLang="en-US" b="1" dirty="0"/>
                <a:t>知识产权类型分化</a:t>
              </a:r>
              <a:r>
                <a:rPr lang="zh-CN" altLang="en-US" dirty="0"/>
                <a:t>：</a:t>
              </a:r>
              <a:endParaRPr lang="zh-CN" altLang="en-US" dirty="0"/>
            </a:p>
            <a:p>
              <a:pPr indent="0" fontAlgn="auto">
                <a:lnSpc>
                  <a:spcPct val="150000"/>
                </a:lnSpc>
              </a:pPr>
              <a:r>
                <a:rPr lang="zh-CN" altLang="en-US" dirty="0"/>
                <a:t>阿里、安脉盛等以专利（硬科技）为主</a:t>
              </a:r>
              <a:endParaRPr lang="zh-CN" altLang="en-US" dirty="0"/>
            </a:p>
            <a:p>
              <a:pPr indent="0" fontAlgn="auto">
                <a:lnSpc>
                  <a:spcPct val="150000"/>
                </a:lnSpc>
              </a:pPr>
              <a:r>
                <a:rPr lang="zh-CN" altLang="en-US" dirty="0"/>
                <a:t>华量软件、半云科技等以软著（软件）为主</a:t>
              </a:r>
              <a:endParaRPr lang="zh-CN" altLang="en-US" dirty="0"/>
            </a:p>
          </p:txBody>
        </p:sp>
      </p:grpSp>
      <p:pic>
        <p:nvPicPr>
          <p:cNvPr id="4" name="图片 18" descr="图2_全部企业知识产权结构 (2)"/>
          <p:cNvPicPr>
            <a:picLocks noChangeAspect="1"/>
          </p:cNvPicPr>
          <p:nvPr/>
        </p:nvPicPr>
        <p:blipFill>
          <a:blip r:embed="rId11"/>
          <a:srcRect t="17907"/>
          <a:stretch>
            <a:fillRect/>
          </a:stretch>
        </p:blipFill>
        <p:spPr>
          <a:xfrm>
            <a:off x="659765" y="1429385"/>
            <a:ext cx="4979670" cy="2052955"/>
          </a:xfrm>
          <a:prstGeom prst="rect">
            <a:avLst/>
          </a:prstGeom>
        </p:spPr>
      </p:pic>
      <p:pic>
        <p:nvPicPr>
          <p:cNvPr id="9" name="图片 19" descr="图1_Top10结构分析_大图版"/>
          <p:cNvPicPr>
            <a:picLocks noChangeAspect="1"/>
          </p:cNvPicPr>
          <p:nvPr/>
        </p:nvPicPr>
        <p:blipFill>
          <a:blip r:embed="rId12"/>
          <a:srcRect t="3692"/>
          <a:stretch>
            <a:fillRect/>
          </a:stretch>
        </p:blipFill>
        <p:spPr>
          <a:xfrm>
            <a:off x="6226810" y="3293110"/>
            <a:ext cx="5475605" cy="322516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图片 2" descr="图1_Top10结构分析_大图版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6810" y="3305175"/>
            <a:ext cx="5475605" cy="3199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技术创新能力分析</a:t>
            </a:r>
            <a:endParaRPr lang="zh-CN" altLang="en-US" dirty="0"/>
          </a:p>
        </p:txBody>
      </p:sp>
      <p:sp>
        <p:nvSpPr>
          <p:cNvPr id="48" name="同心圆 47"/>
          <p:cNvSpPr/>
          <p:nvPr>
            <p:custDataLst>
              <p:tags r:id="rId1"/>
            </p:custDataLst>
          </p:nvPr>
        </p:nvSpPr>
        <p:spPr>
          <a:xfrm>
            <a:off x="-1274762" y="1858705"/>
            <a:ext cx="2635542" cy="2607769"/>
          </a:xfrm>
          <a:prstGeom prst="donut">
            <a:avLst>
              <a:gd name="adj" fmla="val 12779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任意多边形: 形状 46"/>
          <p:cNvSpPr/>
          <p:nvPr>
            <p:custDataLst>
              <p:tags r:id="rId2"/>
            </p:custDataLst>
          </p:nvPr>
        </p:nvSpPr>
        <p:spPr>
          <a:xfrm>
            <a:off x="-50223" y="478790"/>
            <a:ext cx="9494895" cy="5368438"/>
          </a:xfrm>
          <a:custGeom>
            <a:avLst/>
            <a:gdLst>
              <a:gd name="connsiteX0" fmla="*/ 6267450 w 6267450"/>
              <a:gd name="connsiteY0" fmla="*/ 3438716 h 3438715"/>
              <a:gd name="connsiteX1" fmla="*/ 0 w 6267450"/>
              <a:gd name="connsiteY1" fmla="*/ 2490883 h 3438715"/>
              <a:gd name="connsiteX2" fmla="*/ 0 w 6267450"/>
              <a:gd name="connsiteY2" fmla="*/ 947833 h 3438715"/>
              <a:gd name="connsiteX3" fmla="*/ 6267450 w 6267450"/>
              <a:gd name="connsiteY3" fmla="*/ 0 h 3438715"/>
              <a:gd name="connsiteX4" fmla="*/ 6267450 w 6267450"/>
              <a:gd name="connsiteY4" fmla="*/ 3438716 h 343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0" h="9278">
                <a:moveTo>
                  <a:pt x="16410" y="0"/>
                </a:moveTo>
                <a:lnTo>
                  <a:pt x="16410" y="9278"/>
                </a:lnTo>
                <a:lnTo>
                  <a:pt x="0" y="6892"/>
                </a:lnTo>
                <a:lnTo>
                  <a:pt x="0" y="2386"/>
                </a:lnTo>
                <a:lnTo>
                  <a:pt x="16410" y="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36" name="图片 22" descr="人员IP分析图_无箱线图标注版"/>
          <p:cNvPicPr>
            <a:picLocks noChangeAspect="1"/>
          </p:cNvPicPr>
          <p:nvPr/>
        </p:nvPicPr>
        <p:blipFill>
          <a:blip r:embed="rId3"/>
          <a:srcRect t="6238" r="49910" b="46602"/>
          <a:stretch>
            <a:fillRect/>
          </a:stretch>
        </p:blipFill>
        <p:spPr>
          <a:xfrm>
            <a:off x="4840605" y="1875155"/>
            <a:ext cx="2837815" cy="2433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35" name="图片 11" descr="企业生命周期与技术密度分析_最终调整"/>
          <p:cNvPicPr>
            <a:picLocks noChangeAspect="1"/>
          </p:cNvPicPr>
          <p:nvPr/>
        </p:nvPicPr>
        <p:blipFill>
          <a:blip r:embed="rId4"/>
          <a:srcRect l="49378" t="5031"/>
          <a:stretch>
            <a:fillRect/>
          </a:stretch>
        </p:blipFill>
        <p:spPr>
          <a:xfrm>
            <a:off x="2089150" y="1875790"/>
            <a:ext cx="2661285" cy="24091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49" name="图片 22" descr="人员IP分析图_无箱线图标注版"/>
          <p:cNvPicPr>
            <a:picLocks noChangeAspect="1"/>
          </p:cNvPicPr>
          <p:nvPr/>
        </p:nvPicPr>
        <p:blipFill>
          <a:blip r:embed="rId3"/>
          <a:srcRect l="52633" t="6238" b="46602"/>
          <a:stretch>
            <a:fillRect/>
          </a:stretch>
        </p:blipFill>
        <p:spPr>
          <a:xfrm>
            <a:off x="7736840" y="1875155"/>
            <a:ext cx="2704465" cy="2433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80" name="圆角矩形 179"/>
          <p:cNvSpPr/>
          <p:nvPr>
            <p:custDataLst>
              <p:tags r:id="rId5"/>
            </p:custDataLst>
          </p:nvPr>
        </p:nvSpPr>
        <p:spPr>
          <a:xfrm>
            <a:off x="2023110" y="5008880"/>
            <a:ext cx="8754110" cy="669290"/>
          </a:xfrm>
          <a:prstGeom prst="roundRect">
            <a:avLst/>
          </a:prstGeom>
          <a:noFill/>
          <a:ln w="6731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初创期的技术密度普遍处于高位，成长期有所回落，成熟期的技术密度呈现显著分化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3" name="椭圆 182"/>
          <p:cNvSpPr/>
          <p:nvPr>
            <p:custDataLst>
              <p:tags r:id="rId6"/>
            </p:custDataLst>
          </p:nvPr>
        </p:nvSpPr>
        <p:spPr>
          <a:xfrm>
            <a:off x="1263015" y="5046345"/>
            <a:ext cx="647700" cy="63182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kumimoji="1" lang="en-US" b="1" dirty="0">
                <a:solidFill>
                  <a:srgbClr val="FFFFFF"/>
                </a:solidFill>
              </a:rPr>
              <a:t>01</a:t>
            </a:r>
            <a:endParaRPr kumimoji="1" b="1" dirty="0">
              <a:solidFill>
                <a:srgbClr val="FFFFFF"/>
              </a:solidFill>
            </a:endParaRPr>
          </a:p>
        </p:txBody>
      </p:sp>
      <p:sp>
        <p:nvSpPr>
          <p:cNvPr id="192" name="圆角矩形 191"/>
          <p:cNvSpPr/>
          <p:nvPr>
            <p:custDataLst>
              <p:tags r:id="rId7"/>
            </p:custDataLst>
          </p:nvPr>
        </p:nvSpPr>
        <p:spPr>
          <a:xfrm>
            <a:off x="1703705" y="5833110"/>
            <a:ext cx="8694420" cy="647700"/>
          </a:xfrm>
          <a:prstGeom prst="roundRect">
            <a:avLst/>
          </a:prstGeom>
          <a:noFill/>
          <a:ln w="6731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参保人数与知识产权数量的相关系数达</a:t>
            </a:r>
            <a:r>
              <a:rPr lang="en-US" altLang="zh-CN" b="1" dirty="0">
                <a:solidFill>
                  <a:schemeClr val="tx1"/>
                </a:solidFill>
              </a:rPr>
              <a:t>0.83</a:t>
            </a:r>
            <a:r>
              <a:rPr lang="zh-CN" altLang="en-US" b="1" dirty="0">
                <a:solidFill>
                  <a:schemeClr val="tx1"/>
                </a:solidFill>
              </a:rPr>
              <a:t>，人员规模对硬核创新支撑更显著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94" name="椭圆 193"/>
          <p:cNvSpPr/>
          <p:nvPr>
            <p:custDataLst>
              <p:tags r:id="rId8"/>
            </p:custDataLst>
          </p:nvPr>
        </p:nvSpPr>
        <p:spPr>
          <a:xfrm>
            <a:off x="10507980" y="5833009"/>
            <a:ext cx="648000" cy="648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kumimoji="1" lang="en-US" b="1" dirty="0">
                <a:solidFill>
                  <a:srgbClr val="FFFFFF"/>
                </a:solidFill>
              </a:rPr>
              <a:t>02</a:t>
            </a:r>
            <a:endParaRPr kumimoji="1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>
            <p:custDataLst>
              <p:tags r:id="rId1"/>
            </p:custDataLst>
          </p:nvPr>
        </p:nvGrpSpPr>
        <p:grpSpPr>
          <a:xfrm>
            <a:off x="1894205" y="1741301"/>
            <a:ext cx="10302875" cy="3890493"/>
            <a:chOff x="-297815" y="1815596"/>
            <a:chExt cx="10302875" cy="3890493"/>
          </a:xfrm>
        </p:grpSpPr>
        <p:cxnSp>
          <p:nvCxnSpPr>
            <p:cNvPr id="15" name="直接连接符 14"/>
            <p:cNvCxnSpPr/>
            <p:nvPr>
              <p:custDataLst>
                <p:tags r:id="rId2"/>
              </p:custDataLst>
            </p:nvPr>
          </p:nvCxnSpPr>
          <p:spPr>
            <a:xfrm flipH="1">
              <a:off x="-297815" y="3590318"/>
              <a:ext cx="10302875" cy="15875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>
              <p:custDataLst>
                <p:tags r:id="rId3"/>
              </p:custDataLst>
            </p:nvPr>
          </p:nvSpPr>
          <p:spPr>
            <a:xfrm>
              <a:off x="6389288" y="3477617"/>
              <a:ext cx="258421" cy="25842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325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4"/>
              </p:custDataLst>
            </p:nvPr>
          </p:nvSpPr>
          <p:spPr>
            <a:xfrm>
              <a:off x="8738620" y="3477169"/>
              <a:ext cx="258421" cy="25842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325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4448271" y="3251814"/>
              <a:ext cx="2670175" cy="2454275"/>
              <a:chOff x="4448271" y="3251814"/>
              <a:chExt cx="2670175" cy="2454275"/>
            </a:xfrm>
          </p:grpSpPr>
          <p:sp>
            <p:nvSpPr>
              <p:cNvPr id="17" name="椭圆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4980401" y="3251814"/>
                <a:ext cx="727483" cy="72748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:endParaRPr kumimoji="1"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任意多边形 17"/>
              <p:cNvSpPr/>
              <p:nvPr>
                <p:custDataLst>
                  <p:tags r:id="rId6"/>
                </p:custDataLst>
              </p:nvPr>
            </p:nvSpPr>
            <p:spPr>
              <a:xfrm>
                <a:off x="5200148" y="3468974"/>
                <a:ext cx="287989" cy="315682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48271" y="4116049"/>
                <a:ext cx="2670175" cy="1590040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indent="0" algn="ctr" fontAlgn="auto">
                  <a:lnSpc>
                    <a:spcPct val="150000"/>
                  </a:lnSpc>
                </a:pPr>
                <a:r>
                  <a:rPr lang="en-US" altLang="zh-CN" b="1" dirty="0"/>
                  <a:t>AI</a:t>
                </a:r>
                <a:r>
                  <a:rPr lang="zh-CN" altLang="en-US" b="1" dirty="0"/>
                  <a:t>训练数据位居榜首</a:t>
                </a:r>
                <a:endParaRPr lang="zh-CN" altLang="en-US" b="1" dirty="0"/>
              </a:p>
              <a:p>
                <a:pPr indent="0" algn="ctr" fontAlgn="auto">
                  <a:lnSpc>
                    <a:spcPct val="150000"/>
                  </a:lnSpc>
                </a:pPr>
                <a:r>
                  <a:rPr lang="zh-CN" altLang="en-US" dirty="0"/>
                  <a:t>印证了高质量数据与算法模型的</a:t>
                </a:r>
                <a:r>
                  <a:rPr lang="en-US" altLang="zh-CN" dirty="0"/>
                  <a:t>“</a:t>
                </a:r>
                <a:r>
                  <a:rPr lang="zh-CN" altLang="en-US" dirty="0"/>
                  <a:t>双轮驱动</a:t>
                </a:r>
                <a:r>
                  <a:rPr lang="en-US" altLang="zh-CN" dirty="0"/>
                  <a:t>”</a:t>
                </a:r>
                <a:r>
                  <a:rPr lang="zh-CN" altLang="en-US" dirty="0"/>
                  <a:t>特性</a:t>
                </a:r>
                <a:endParaRPr lang="zh-CN" altLang="en-US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648029" y="1815596"/>
              <a:ext cx="2006372" cy="2139740"/>
              <a:chOff x="6648029" y="1815596"/>
              <a:chExt cx="2006372" cy="2139740"/>
            </a:xfrm>
          </p:grpSpPr>
          <p:sp>
            <p:nvSpPr>
              <p:cNvPr id="20" name="椭圆 19"/>
              <p:cNvSpPr/>
              <p:nvPr>
                <p:custDataLst>
                  <p:tags r:id="rId8"/>
                </p:custDataLst>
              </p:nvPr>
            </p:nvSpPr>
            <p:spPr>
              <a:xfrm>
                <a:off x="7329423" y="3227856"/>
                <a:ext cx="727483" cy="72748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:endParaRPr kumimoji="1"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任意多边形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7535324" y="3465820"/>
                <a:ext cx="315682" cy="262809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48029" y="1815596"/>
                <a:ext cx="2006372" cy="1542485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indent="0" algn="ctr" fontAlgn="auto">
                  <a:lnSpc>
                    <a:spcPct val="150000"/>
                  </a:lnSpc>
                </a:pPr>
                <a:r>
                  <a:rPr lang="zh-CN" altLang="en-US" b="1" dirty="0"/>
                  <a:t>领域差异显著</a:t>
                </a:r>
                <a:endParaRPr lang="zh-CN" altLang="en-US" dirty="0"/>
              </a:p>
              <a:p>
                <a:pPr indent="0" algn="ctr" fontAlgn="auto">
                  <a:lnSpc>
                    <a:spcPct val="150000"/>
                  </a:lnSpc>
                </a:pPr>
                <a:r>
                  <a:rPr lang="zh-CN" altLang="en-US" dirty="0"/>
                  <a:t>不同数据要素类别发展不均衡</a:t>
                </a:r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技术创新能力分析</a:t>
            </a:r>
            <a:endParaRPr lang="en-US" dirty="0"/>
          </a:p>
        </p:txBody>
      </p:sp>
      <p:pic>
        <p:nvPicPr>
          <p:cNvPr id="37" name="图片 23" descr="行业技术密度排名_单图"/>
          <p:cNvPicPr>
            <a:picLocks noChangeAspect="1"/>
          </p:cNvPicPr>
          <p:nvPr/>
        </p:nvPicPr>
        <p:blipFill>
          <a:blip r:embed="rId11"/>
          <a:srcRect t="7259"/>
          <a:stretch>
            <a:fillRect/>
          </a:stretch>
        </p:blipFill>
        <p:spPr>
          <a:xfrm>
            <a:off x="580390" y="1551305"/>
            <a:ext cx="5304790" cy="4428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资本活跃度与成长路径</a:t>
            </a:r>
            <a:endParaRPr lang="zh-CN" altLang="en-US" dirty="0"/>
          </a:p>
        </p:txBody>
      </p: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 rot="0">
            <a:off x="499110" y="4855210"/>
            <a:ext cx="10961370" cy="1524000"/>
            <a:chOff x="583021" y="1200054"/>
            <a:chExt cx="11006463" cy="5038136"/>
          </a:xfrm>
        </p:grpSpPr>
        <p:grpSp>
          <p:nvGrpSpPr>
            <p:cNvPr id="6" name="组合 5"/>
            <p:cNvGrpSpPr/>
            <p:nvPr/>
          </p:nvGrpSpPr>
          <p:grpSpPr>
            <a:xfrm>
              <a:off x="6096147" y="1202639"/>
              <a:ext cx="5493337" cy="5035551"/>
              <a:chOff x="455343" y="1202639"/>
              <a:chExt cx="5493337" cy="5035551"/>
            </a:xfrm>
          </p:grpSpPr>
          <p:sp>
            <p:nvSpPr>
              <p:cNvPr id="13" name="圆角矩形 12"/>
              <p:cNvSpPr/>
              <p:nvPr>
                <p:custDataLst>
                  <p:tags r:id="rId2"/>
                </p:custDataLst>
              </p:nvPr>
            </p:nvSpPr>
            <p:spPr>
              <a:xfrm>
                <a:off x="455343" y="1202639"/>
                <a:ext cx="5493337" cy="5035551"/>
              </a:xfrm>
              <a:prstGeom prst="roundRect">
                <a:avLst>
                  <a:gd name="adj" fmla="val 6645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524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kumimoji="1" lang="zh-CN" altLang="en-US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3"/>
                </p:custDataLst>
              </p:nvPr>
            </p:nvSpPr>
            <p:spPr>
              <a:xfrm>
                <a:off x="689347" y="1536416"/>
                <a:ext cx="4944046" cy="42803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indent="0" algn="l" fontAlgn="auto">
                  <a:lnSpc>
                    <a:spcPct val="150000"/>
                  </a:lnSpc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成熟引领型：数据采集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/ </a:t>
                </a: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标注、数据安全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/ </a:t>
                </a: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隐私计算</a:t>
                </a:r>
                <a:endPara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 fontAlgn="auto">
                  <a:lnSpc>
                    <a:spcPct val="150000"/>
                  </a:lnSpc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均衡发展型：大数据平台</a:t>
                </a:r>
                <a:endPara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 fontAlgn="auto">
                  <a:lnSpc>
                    <a:spcPct val="150000"/>
                  </a:lnSpc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早期集聚型：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SaaS / </a:t>
                </a: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数据服务、数据治理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/ </a:t>
                </a: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合规</a:t>
                </a:r>
                <a:endPara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83021" y="1200054"/>
              <a:ext cx="5334902" cy="4952068"/>
              <a:chOff x="-78695" y="1200054"/>
              <a:chExt cx="5334902" cy="4952068"/>
            </a:xfrm>
          </p:grpSpPr>
          <p:sp>
            <p:nvSpPr>
              <p:cNvPr id="8" name="圆角矩形 7"/>
              <p:cNvSpPr/>
              <p:nvPr>
                <p:custDataLst>
                  <p:tags r:id="rId4"/>
                </p:custDataLst>
              </p:nvPr>
            </p:nvSpPr>
            <p:spPr>
              <a:xfrm>
                <a:off x="-78695" y="1200054"/>
                <a:ext cx="5334902" cy="4952068"/>
              </a:xfrm>
              <a:prstGeom prst="roundRect">
                <a:avLst>
                  <a:gd name="adj" fmla="val 6645"/>
                </a:avLst>
              </a:prstGeom>
              <a:solidFill>
                <a:schemeClr val="accent2">
                  <a:alpha val="15000"/>
                </a:schemeClr>
              </a:solidFill>
              <a:ln w="38100">
                <a:noFill/>
                <a:round/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47552" y="1880202"/>
                <a:ext cx="5082407" cy="3247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rmAutofit fontScale="9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indent="0" algn="l" fontAlgn="auto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chemeClr val="accent1"/>
                    </a:solidFill>
                  </a:rPr>
                  <a:t>实缴特征：实缴率高，部分微型企业实缴率低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  <a:p>
                <a:pPr indent="0" algn="l" fontAlgn="auto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chemeClr val="accent1"/>
                    </a:solidFill>
                  </a:rPr>
                  <a:t>投资布局：恒生电子、安恒信息等企业对外投资广泛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</p:grpSp>
      <p:pic>
        <p:nvPicPr>
          <p:cNvPr id="4" name="图片 6" descr="美化图3_蓝绿定制版"/>
          <p:cNvPicPr>
            <a:picLocks noChangeAspect="1"/>
          </p:cNvPicPr>
          <p:nvPr/>
        </p:nvPicPr>
        <p:blipFill>
          <a:blip r:embed="rId6"/>
          <a:srcRect t="6592"/>
          <a:stretch>
            <a:fillRect/>
          </a:stretch>
        </p:blipFill>
        <p:spPr>
          <a:xfrm>
            <a:off x="696595" y="1341120"/>
            <a:ext cx="6863715" cy="3234055"/>
          </a:xfrm>
          <a:prstGeom prst="rect">
            <a:avLst/>
          </a:prstGeom>
        </p:spPr>
      </p:pic>
      <p:pic>
        <p:nvPicPr>
          <p:cNvPr id="20" name="图片 17" descr="数据要素类别融资分析"/>
          <p:cNvPicPr>
            <a:picLocks noChangeAspect="1"/>
          </p:cNvPicPr>
          <p:nvPr/>
        </p:nvPicPr>
        <p:blipFill>
          <a:blip r:embed="rId7"/>
          <a:srcRect l="45628" t="5587" b="7044"/>
          <a:stretch>
            <a:fillRect/>
          </a:stretch>
        </p:blipFill>
        <p:spPr>
          <a:xfrm>
            <a:off x="7560310" y="1340485"/>
            <a:ext cx="3586480" cy="32340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资本活跃度与成长路径</a:t>
            </a:r>
            <a:endParaRPr lang="en-US" dirty="0"/>
          </a:p>
        </p:txBody>
      </p:sp>
      <p:grpSp>
        <p:nvGrpSpPr>
          <p:cNvPr id="26" name="组合 25"/>
          <p:cNvGrpSpPr/>
          <p:nvPr>
            <p:custDataLst>
              <p:tags r:id="rId1"/>
            </p:custDataLst>
          </p:nvPr>
        </p:nvGrpSpPr>
        <p:grpSpPr>
          <a:xfrm rot="0">
            <a:off x="1089660" y="4405630"/>
            <a:ext cx="10102215" cy="1741170"/>
            <a:chOff x="1089660" y="4405503"/>
            <a:chExt cx="10102215" cy="1740916"/>
          </a:xfrm>
        </p:grpSpPr>
        <p:sp>
          <p:nvSpPr>
            <p:cNvPr id="44" name="圆角矩形 43"/>
            <p:cNvSpPr/>
            <p:nvPr>
              <p:custDataLst>
                <p:tags r:id="rId2"/>
              </p:custDataLst>
            </p:nvPr>
          </p:nvSpPr>
          <p:spPr>
            <a:xfrm>
              <a:off x="6164607" y="4538853"/>
              <a:ext cx="3107636" cy="5334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400" b="1">
                <a:solidFill>
                  <a:schemeClr val="accent1"/>
                </a:solidFill>
              </a:endParaRPr>
            </a:p>
          </p:txBody>
        </p:sp>
        <p:sp>
          <p:nvSpPr>
            <p:cNvPr id="45" name="圆角矩形 44"/>
            <p:cNvSpPr/>
            <p:nvPr>
              <p:custDataLst>
                <p:tags r:id="rId3"/>
              </p:custDataLst>
            </p:nvPr>
          </p:nvSpPr>
          <p:spPr>
            <a:xfrm>
              <a:off x="6164607" y="5479669"/>
              <a:ext cx="3107636" cy="5334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400" b="1">
                <a:solidFill>
                  <a:schemeClr val="accent1"/>
                </a:solidFill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089660" y="4405503"/>
              <a:ext cx="10102215" cy="800100"/>
              <a:chOff x="1089660" y="4405503"/>
              <a:chExt cx="10102215" cy="800100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089660" y="4530598"/>
                <a:ext cx="4682236" cy="549910"/>
                <a:chOff x="1089660" y="4530598"/>
                <a:chExt cx="4682236" cy="549910"/>
              </a:xfrm>
            </p:grpSpPr>
            <p:sp>
              <p:nvSpPr>
                <p:cNvPr id="36" name="圆角矩形 35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21304" y="4595241"/>
                  <a:ext cx="2450592" cy="4206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3765"/>
                  <a:endParaRPr lang="zh-CN" altLang="en-US" sz="140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7" name="圆角矩形 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89660" y="4530598"/>
                  <a:ext cx="2946883" cy="54991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77800" dist="152400" dir="2700000" algn="tl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zh-CN" altLang="en-US" sz="2000" b="1" dirty="0"/>
                    <a:t>融资情况分布</a:t>
                  </a:r>
                  <a:endParaRPr lang="zh-CN" altLang="en-US" sz="2000" b="1" dirty="0"/>
                </a:p>
              </p:txBody>
            </p:sp>
          </p:grpSp>
          <p:sp>
            <p:nvSpPr>
              <p:cNvPr id="48" name="圆角矩形 47"/>
              <p:cNvSpPr/>
              <p:nvPr>
                <p:custDataLst>
                  <p:tags r:id="rId6"/>
                </p:custDataLst>
              </p:nvPr>
            </p:nvSpPr>
            <p:spPr>
              <a:xfrm>
                <a:off x="4165600" y="4405503"/>
                <a:ext cx="7026275" cy="8001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127000" dir="2700000" algn="t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整体呈现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“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成熟融资阶段（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IPO /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股权）占比高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”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的特征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89660" y="5346319"/>
              <a:ext cx="10102215" cy="800100"/>
              <a:chOff x="1089660" y="5346319"/>
              <a:chExt cx="10102215" cy="80010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1089660" y="5471414"/>
                <a:ext cx="4682236" cy="549910"/>
                <a:chOff x="1089660" y="5471414"/>
                <a:chExt cx="4682236" cy="549910"/>
              </a:xfrm>
            </p:grpSpPr>
            <p:sp>
              <p:nvSpPr>
                <p:cNvPr id="37" name="圆角矩形 36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321304" y="5536057"/>
                  <a:ext cx="2450592" cy="4206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3765"/>
                  <a:endParaRPr lang="zh-CN" altLang="en-US" sz="140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9" name="圆角矩形 8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089660" y="5471414"/>
                  <a:ext cx="2946883" cy="54991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77800" dist="152400" dir="2700000" algn="tl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zh-CN" altLang="en-US" sz="2000" b="1" dirty="0"/>
                    <a:t>融资阶段与成立年代关联</a:t>
                  </a:r>
                  <a:endParaRPr lang="zh-CN" altLang="en-US" sz="2000" b="1" dirty="0"/>
                </a:p>
              </p:txBody>
            </p:sp>
          </p:grpSp>
          <p:sp>
            <p:nvSpPr>
              <p:cNvPr id="49" name="圆角矩形 48"/>
              <p:cNvSpPr/>
              <p:nvPr>
                <p:custDataLst>
                  <p:tags r:id="rId9"/>
                </p:custDataLst>
              </p:nvPr>
            </p:nvSpPr>
            <p:spPr>
              <a:xfrm>
                <a:off x="4165600" y="5346319"/>
                <a:ext cx="7026275" cy="8001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127000" dir="2700000" algn="t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2000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年代和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2010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年代成立的企业融资阶段最丰富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4" name="图片 12" descr="美化图2_融资分析版"/>
          <p:cNvPicPr>
            <a:picLocks noChangeAspect="1"/>
          </p:cNvPicPr>
          <p:nvPr/>
        </p:nvPicPr>
        <p:blipFill>
          <a:blip r:embed="rId10"/>
          <a:srcRect t="6089"/>
          <a:stretch>
            <a:fillRect/>
          </a:stretch>
        </p:blipFill>
        <p:spPr>
          <a:xfrm>
            <a:off x="2837815" y="1275715"/>
            <a:ext cx="6257925" cy="30321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376555" y="2143196"/>
            <a:ext cx="11419205" cy="3935095"/>
            <a:chOff x="233045" y="1724096"/>
            <a:chExt cx="11419205" cy="3935095"/>
          </a:xfrm>
        </p:grpSpPr>
        <p:sp>
          <p:nvSpPr>
            <p:cNvPr id="3" name="圆角矩形 2"/>
            <p:cNvSpPr/>
            <p:nvPr>
              <p:custDataLst>
                <p:tags r:id="rId2"/>
              </p:custDataLst>
            </p:nvPr>
          </p:nvSpPr>
          <p:spPr>
            <a:xfrm>
              <a:off x="233045" y="1816806"/>
              <a:ext cx="5608955" cy="3841750"/>
            </a:xfrm>
            <a:prstGeom prst="roundRect">
              <a:avLst>
                <a:gd name="adj" fmla="val 66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16" name="圆角矩形 15"/>
            <p:cNvSpPr/>
            <p:nvPr>
              <p:custDataLst>
                <p:tags r:id="rId3"/>
              </p:custDataLst>
            </p:nvPr>
          </p:nvSpPr>
          <p:spPr>
            <a:xfrm>
              <a:off x="6217285" y="1724096"/>
              <a:ext cx="5434965" cy="3935095"/>
            </a:xfrm>
            <a:prstGeom prst="roundRect">
              <a:avLst>
                <a:gd name="adj" fmla="val 66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</p:grp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空间集聚与产业分布</a:t>
            </a:r>
            <a:endParaRPr lang="zh-CN" altLang="en-US" dirty="0"/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55" y="1704975"/>
            <a:ext cx="5608320" cy="3360420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430" y="1673225"/>
            <a:ext cx="5434330" cy="339217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551180" y="5162550"/>
            <a:ext cx="53384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大型</a:t>
            </a:r>
            <a:r>
              <a:rPr lang="zh-CN" altLang="en-US"/>
              <a:t>企业与</a:t>
            </a:r>
            <a:r>
              <a:rPr lang="zh-CN" altLang="en-US" b="1"/>
              <a:t>中型</a:t>
            </a:r>
            <a:r>
              <a:rPr lang="zh-CN" altLang="en-US"/>
              <a:t>企业主要集中于滨江互联网小镇及聚光中心附近；</a:t>
            </a:r>
            <a:r>
              <a:rPr lang="zh-CN" altLang="en-US" b="1"/>
              <a:t>小型</a:t>
            </a:r>
            <a:r>
              <a:rPr lang="zh-CN" altLang="en-US"/>
              <a:t>、</a:t>
            </a:r>
            <a:r>
              <a:rPr lang="zh-CN" altLang="en-US" b="1"/>
              <a:t>微型</a:t>
            </a:r>
            <a:r>
              <a:rPr lang="zh-CN" altLang="en-US"/>
              <a:t>企业则在核心区周边及沿江区域少量分布。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67170" y="5173980"/>
            <a:ext cx="5194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技术高密度企业高度集聚于区域</a:t>
            </a:r>
            <a:r>
              <a:rPr lang="zh-CN" altLang="en-US" b="1"/>
              <a:t>中部核心带</a:t>
            </a:r>
            <a:r>
              <a:rPr lang="zh-CN" altLang="en-US"/>
              <a:t>，气泡呈现</a:t>
            </a:r>
            <a:r>
              <a:rPr lang="en-US" altLang="zh-CN"/>
              <a:t>“</a:t>
            </a:r>
            <a:r>
              <a:rPr lang="zh-CN" altLang="en-US"/>
              <a:t>集群式分布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376555" y="2143196"/>
            <a:ext cx="11419205" cy="3935095"/>
            <a:chOff x="233045" y="1724096"/>
            <a:chExt cx="11419205" cy="3935095"/>
          </a:xfrm>
        </p:grpSpPr>
        <p:sp>
          <p:nvSpPr>
            <p:cNvPr id="3" name="圆角矩形 2"/>
            <p:cNvSpPr/>
            <p:nvPr>
              <p:custDataLst>
                <p:tags r:id="rId2"/>
              </p:custDataLst>
            </p:nvPr>
          </p:nvSpPr>
          <p:spPr>
            <a:xfrm>
              <a:off x="233045" y="1816806"/>
              <a:ext cx="5608955" cy="3841750"/>
            </a:xfrm>
            <a:prstGeom prst="roundRect">
              <a:avLst>
                <a:gd name="adj" fmla="val 66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16" name="圆角矩形 15"/>
            <p:cNvSpPr/>
            <p:nvPr>
              <p:custDataLst>
                <p:tags r:id="rId3"/>
              </p:custDataLst>
            </p:nvPr>
          </p:nvSpPr>
          <p:spPr>
            <a:xfrm>
              <a:off x="6217285" y="1724096"/>
              <a:ext cx="5434965" cy="3935095"/>
            </a:xfrm>
            <a:prstGeom prst="roundRect">
              <a:avLst>
                <a:gd name="adj" fmla="val 66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</p:grp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666750" y="317"/>
            <a:ext cx="10858500" cy="900112"/>
          </a:xfrm>
        </p:spPr>
        <p:txBody>
          <a:bodyPr/>
          <a:lstStyle/>
          <a:p>
            <a:r>
              <a:rPr lang="zh-CN" altLang="en-US" dirty="0"/>
              <a:t>空间集聚与产业分布</a:t>
            </a:r>
            <a:endParaRPr lang="zh-CN" altLang="en-US" dirty="0"/>
          </a:p>
        </p:txBody>
      </p:sp>
      <p:pic>
        <p:nvPicPr>
          <p:cNvPr id="4" name="图片 4" descr="滨江区经营范围词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" y="1762760"/>
            <a:ext cx="5648960" cy="339026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795" y="1762760"/>
            <a:ext cx="5434965" cy="3390900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567055" y="5183505"/>
            <a:ext cx="5413375" cy="873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企业的主营业务聚焦于</a:t>
            </a:r>
            <a:r>
              <a:rPr lang="zh-CN" altLang="en-US" b="1"/>
              <a:t>数字经济</a:t>
            </a:r>
            <a:r>
              <a:rPr lang="zh-CN" altLang="en-US"/>
              <a:t>领域，同时兼具技术服务、商贸配套等延伸业态，形成了</a:t>
            </a:r>
            <a:r>
              <a:rPr lang="en-US" altLang="zh-CN"/>
              <a:t>“</a:t>
            </a:r>
            <a:r>
              <a:rPr lang="zh-CN" altLang="en-US"/>
              <a:t>核心技术</a:t>
            </a:r>
            <a:r>
              <a:rPr lang="en-US" altLang="zh-CN"/>
              <a:t>+</a:t>
            </a:r>
            <a:r>
              <a:rPr lang="zh-CN" altLang="en-US"/>
              <a:t>配套服务</a:t>
            </a:r>
            <a:r>
              <a:rPr lang="en-US" altLang="zh-CN"/>
              <a:t>”</a:t>
            </a:r>
            <a:r>
              <a:rPr lang="zh-CN" altLang="en-US"/>
              <a:t>的业务生态。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74790" y="5244465"/>
            <a:ext cx="52228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不同细分类型的企业在核心区内呈现</a:t>
            </a:r>
            <a:r>
              <a:rPr lang="en-US" altLang="zh-CN"/>
              <a:t>“</a:t>
            </a:r>
            <a:r>
              <a:rPr lang="zh-CN" altLang="en-US"/>
              <a:t>混合式集聚</a:t>
            </a:r>
            <a:r>
              <a:rPr lang="en-US" altLang="zh-CN"/>
              <a:t>”</a:t>
            </a:r>
            <a:r>
              <a:rPr lang="zh-CN" altLang="en-US"/>
              <a:t>，</a:t>
            </a:r>
            <a:endParaRPr lang="en-US" altLang="zh-CN"/>
          </a:p>
          <a:p>
            <a:r>
              <a:rPr lang="zh-CN" altLang="en-US"/>
              <a:t>与区域</a:t>
            </a:r>
            <a:r>
              <a:rPr lang="en-US" altLang="zh-CN"/>
              <a:t>“</a:t>
            </a:r>
            <a:r>
              <a:rPr lang="zh-CN" altLang="en-US"/>
              <a:t>高企占比高、技术密度强</a:t>
            </a:r>
            <a:r>
              <a:rPr lang="en-US" altLang="zh-CN"/>
              <a:t>”</a:t>
            </a:r>
            <a:r>
              <a:rPr lang="zh-CN" altLang="en-US"/>
              <a:t>的特征高度匹配。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536825" y="2560320"/>
            <a:ext cx="7118350" cy="84772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产业分群与成长机制分析</a:t>
            </a:r>
            <a:endParaRPr lang="en-US" dirty="0"/>
          </a:p>
        </p:txBody>
      </p:sp>
      <p:sp>
        <p:nvSpPr>
          <p:cNvPr id="2" name="文本占位符 1"/>
          <p:cNvSpPr/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企业聚类分析结果</a:t>
            </a:r>
            <a:endParaRPr lang="zh-CN" altLang="en-US" dirty="0"/>
          </a:p>
        </p:txBody>
      </p:sp>
      <p:pic>
        <p:nvPicPr>
          <p:cNvPr id="26" name="图片 26" descr="聚类_PCA散点图"/>
          <p:cNvPicPr>
            <a:picLocks noChangeAspect="1"/>
          </p:cNvPicPr>
          <p:nvPr/>
        </p:nvPicPr>
        <p:blipFill>
          <a:blip r:embed="rId1"/>
          <a:srcRect t="4234"/>
          <a:stretch>
            <a:fillRect/>
          </a:stretch>
        </p:blipFill>
        <p:spPr>
          <a:xfrm>
            <a:off x="775335" y="1727200"/>
            <a:ext cx="5124450" cy="3897630"/>
          </a:xfrm>
          <a:prstGeom prst="rect">
            <a:avLst/>
          </a:prstGeom>
        </p:spPr>
      </p:pic>
      <p:pic>
        <p:nvPicPr>
          <p:cNvPr id="28" name="图片 28" descr="聚类_数量分布"/>
          <p:cNvPicPr>
            <a:picLocks noChangeAspect="1"/>
          </p:cNvPicPr>
          <p:nvPr/>
        </p:nvPicPr>
        <p:blipFill>
          <a:blip r:embed="rId2"/>
          <a:srcRect t="7635"/>
          <a:stretch>
            <a:fillRect/>
          </a:stretch>
        </p:blipFill>
        <p:spPr>
          <a:xfrm>
            <a:off x="6096000" y="2317750"/>
            <a:ext cx="5280660" cy="267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企业聚类分析结果</a:t>
            </a:r>
            <a:endParaRPr lang="zh-CN" altLang="en-US" dirty="0"/>
          </a:p>
        </p:txBody>
      </p:sp>
      <p:sp>
        <p:nvSpPr>
          <p:cNvPr id="3" name="任意多边形: 形状 8"/>
          <p:cNvSpPr/>
          <p:nvPr>
            <p:custDataLst>
              <p:tags r:id="rId1"/>
            </p:custDataLst>
          </p:nvPr>
        </p:nvSpPr>
        <p:spPr>
          <a:xfrm>
            <a:off x="1964055" y="1793876"/>
            <a:ext cx="3600450" cy="1824038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3000">
                <a:schemeClr val="accent1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 flipH="1">
            <a:off x="6581776" y="1793876"/>
            <a:ext cx="3600450" cy="1824038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2">
                  <a:lumMod val="60000"/>
                  <a:lumOff val="40000"/>
                  <a:alpha val="0"/>
                </a:schemeClr>
              </a:gs>
              <a:gs pos="3000">
                <a:schemeClr val="accent2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 flipV="1">
            <a:off x="1964055" y="4350385"/>
            <a:ext cx="3600450" cy="1824038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3000">
                <a:schemeClr val="accent1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任意多边形: 形状 18"/>
          <p:cNvSpPr/>
          <p:nvPr>
            <p:custDataLst>
              <p:tags r:id="rId4"/>
            </p:custDataLst>
          </p:nvPr>
        </p:nvSpPr>
        <p:spPr>
          <a:xfrm flipH="1" flipV="1">
            <a:off x="6581776" y="4350385"/>
            <a:ext cx="3600450" cy="1824038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2">
                  <a:lumMod val="60000"/>
                  <a:lumOff val="40000"/>
                  <a:alpha val="0"/>
                </a:schemeClr>
              </a:gs>
              <a:gs pos="3000">
                <a:schemeClr val="accent2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691515" y="1689100"/>
            <a:ext cx="3249295" cy="18681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类别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资本引领型龙头企业，此类企业为产业基石，多为成立时间早、资本雄厚、知识产权储备丰富的老牌龙头企业。它们在高新资质、融资能力、规模效应方面表现突出，是滨江区数据要素产业的主导力量与生态核心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91515" y="4466590"/>
            <a:ext cx="3206750" cy="18681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类别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是规模较大但创新较弱型企业，此类企业规模虽不小，但技术创新能力薄弱，人力资源投入不足，可能属于传统型企业或业务较为单一，在数据要素产业链中处于配套或辅助角色。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8272145" y="4464685"/>
            <a:ext cx="3141980" cy="18681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类别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为技术密集型小微创新体，此类企业为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小而美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的技术先锋，虽体量微小，但人均创新能力极强，属于专注于细分技术领域的创新型企业。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8272145" y="1567815"/>
            <a:ext cx="3141345" cy="18681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类别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是高新成长型中坚企业，此类企业为产业中坚，虽规模不及类别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0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，但创新活跃度高，成立时间适中，正处于快速成长期。它们是滨江区数据要素产业的创新主力军，具备较强的技术转化与市场拓展潜力。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27" name="图片 27" descr="聚类_雷达图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3523"/>
          <a:stretch>
            <a:fillRect/>
          </a:stretch>
        </p:blipFill>
        <p:spPr>
          <a:xfrm>
            <a:off x="3898265" y="1689100"/>
            <a:ext cx="4354195" cy="4107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成长驱动因素回归分析</a:t>
            </a:r>
            <a:endParaRPr lang="zh-CN" altLang="en-US" dirty="0"/>
          </a:p>
        </p:txBody>
      </p:sp>
      <p:sp>
        <p:nvSpPr>
          <p:cNvPr id="50" name="任意形状 2"/>
          <p:cNvSpPr/>
          <p:nvPr>
            <p:custDataLst>
              <p:tags r:id="rId1"/>
            </p:custDataLst>
          </p:nvPr>
        </p:nvSpPr>
        <p:spPr>
          <a:xfrm>
            <a:off x="-18416" y="2860057"/>
            <a:ext cx="12187556" cy="5313002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 dirty="0">
              <a:solidFill>
                <a:schemeClr val="lt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51" name="任意形状 1"/>
          <p:cNvSpPr/>
          <p:nvPr>
            <p:custDataLst>
              <p:tags r:id="rId2"/>
            </p:custDataLst>
          </p:nvPr>
        </p:nvSpPr>
        <p:spPr>
          <a:xfrm>
            <a:off x="-18415" y="2924810"/>
            <a:ext cx="12210415" cy="5248275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>
                  <a:alpha val="10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52" name="任意多边形: 形状 20"/>
          <p:cNvSpPr/>
          <p:nvPr>
            <p:custDataLst>
              <p:tags r:id="rId3"/>
            </p:custDataLst>
          </p:nvPr>
        </p:nvSpPr>
        <p:spPr>
          <a:xfrm>
            <a:off x="41275" y="2964815"/>
            <a:ext cx="12242800" cy="5212080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 dirty="0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59" name="矩形 58"/>
          <p:cNvSpPr/>
          <p:nvPr>
            <p:custDataLst>
              <p:tags r:id="rId4"/>
            </p:custDataLst>
          </p:nvPr>
        </p:nvSpPr>
        <p:spPr>
          <a:xfrm>
            <a:off x="1405255" y="4433570"/>
            <a:ext cx="10064115" cy="1454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专利占比</a:t>
            </a:r>
            <a:r>
              <a:rPr lang="en-US" altLang="zh-CN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具有极高的统计显著性；企业的成长速度高度依赖于其技术创新成果。</a:t>
            </a:r>
            <a:endParaRPr lang="zh-CN" altLang="en-US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  <a:p>
            <a:pPr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注册资本的正向作用体现了</a:t>
            </a:r>
            <a:r>
              <a:rPr lang="en-US" altLang="zh-CN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信用基石</a:t>
            </a:r>
            <a:r>
              <a:rPr lang="en-US" altLang="zh-CN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；充足的初始资本为企业提供抵御创新风险、吸引高端人才、进行长期研发投入的底气。</a:t>
            </a:r>
            <a:endParaRPr lang="zh-CN" altLang="en-US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0" name="矩形 59"/>
          <p:cNvSpPr/>
          <p:nvPr>
            <p:custDataLst>
              <p:tags r:id="rId5"/>
            </p:custDataLst>
          </p:nvPr>
        </p:nvSpPr>
        <p:spPr>
          <a:xfrm>
            <a:off x="1365250" y="5742940"/>
            <a:ext cx="10404475" cy="8566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 defTabSz="914400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人均资本”的负向效应揭示了“资本密集陷阱”；人均资本投入与企业创新成长速度呈显著负相关，</a:t>
            </a:r>
            <a:b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</a:br>
            <a:r>
              <a:rPr lang="zh-CN" altLang="en-US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非研发导向的资本堆砌不利于创新。</a:t>
            </a:r>
            <a:endParaRPr lang="zh-CN" altLang="en-US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61" name="图形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397" y="4556867"/>
            <a:ext cx="542445" cy="539663"/>
          </a:xfrm>
          <a:prstGeom prst="rect">
            <a:avLst/>
          </a:prstGeom>
        </p:spPr>
      </p:pic>
      <p:pic>
        <p:nvPicPr>
          <p:cNvPr id="62" name="图形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371" y="5743038"/>
            <a:ext cx="505468" cy="488804"/>
          </a:xfrm>
          <a:prstGeom prst="rect">
            <a:avLst/>
          </a:prstGeom>
        </p:spPr>
      </p:pic>
      <p:graphicFrame>
        <p:nvGraphicFramePr>
          <p:cNvPr id="33" name="表格 32"/>
          <p:cNvGraphicFramePr/>
          <p:nvPr>
            <p:custDataLst>
              <p:tags r:id="rId12"/>
            </p:custDataLst>
          </p:nvPr>
        </p:nvGraphicFramePr>
        <p:xfrm>
          <a:off x="2207895" y="1379220"/>
          <a:ext cx="7776845" cy="2404745"/>
        </p:xfrm>
        <a:graphic>
          <a:graphicData uri="http://schemas.openxmlformats.org/drawingml/2006/table">
            <a:tbl>
              <a:tblPr firstRow="1" lastCol="1">
                <a:tableStyleId>{68BC348F-B050-404B-85B8-15597D7D7DCA}</a:tableStyleId>
              </a:tblPr>
              <a:tblGrid>
                <a:gridCol w="1943100"/>
                <a:gridCol w="1943735"/>
                <a:gridCol w="1783080"/>
                <a:gridCol w="2106930"/>
              </a:tblGrid>
              <a:tr h="3956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变量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系数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P</a:t>
                      </a:r>
                      <a:r>
                        <a:rPr lang="zh-CN" altLang="en-US" sz="1400"/>
                        <a:t>值</a:t>
                      </a:r>
                      <a:endParaRPr lang="zh-CN" altLang="en-US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影响方向与强度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</a:tr>
              <a:tr h="50228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专利占比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2.2852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0.000***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极显著正向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</a:tr>
              <a:tr h="5029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对外投资</a:t>
                      </a:r>
                      <a:r>
                        <a:rPr lang="en-US" altLang="zh-CN" sz="1400"/>
                        <a:t>_log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0.2255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0.099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边际正向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</a:tr>
              <a:tr h="50165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注册资本</a:t>
                      </a:r>
                      <a:r>
                        <a:rPr lang="en-US" altLang="zh-CN" sz="1400"/>
                        <a:t>_log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0.3149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0.000***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显著正向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</a:tr>
              <a:tr h="50228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人均资本</a:t>
                      </a:r>
                      <a:r>
                        <a:rPr lang="en-US" altLang="zh-CN" sz="1400"/>
                        <a:t>_log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-0.4964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0.001***</a:t>
                      </a:r>
                      <a:endParaRPr lang="en-US" altLang="zh-CN" sz="1400"/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显著负向</a:t>
                      </a:r>
                      <a:endParaRPr lang="zh-CN" sz="1400"/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179" name="圆角矩形 178"/>
          <p:cNvSpPr/>
          <p:nvPr/>
        </p:nvSpPr>
        <p:spPr>
          <a:xfrm>
            <a:off x="2632075" y="3862070"/>
            <a:ext cx="6602095" cy="497840"/>
          </a:xfrm>
          <a:prstGeom prst="roundRect">
            <a:avLst>
              <a:gd name="adj" fmla="val 13235"/>
            </a:avLst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190500" dist="38100" dir="5400000" algn="t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因变量是创新成长速度，以“企业知识产权产出量”衡量。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536825" y="2560320"/>
            <a:ext cx="7118350" cy="84772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高质量发展路径与政策建议</a:t>
            </a:r>
            <a:endParaRPr lang="en-US" dirty="0"/>
          </a:p>
        </p:txBody>
      </p:sp>
      <p:sp>
        <p:nvSpPr>
          <p:cNvPr id="2" name="文本占位符 1"/>
          <p:cNvSpPr/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产业现状</a:t>
            </a:r>
            <a:endParaRPr lang="zh-CN" altLang="en-US" dirty="0"/>
          </a:p>
        </p:txBody>
      </p:sp>
      <p:sp>
        <p:nvSpPr>
          <p:cNvPr id="9" name="任意多边形: 形状 42"/>
          <p:cNvSpPr/>
          <p:nvPr>
            <p:custDataLst>
              <p:tags r:id="rId1"/>
            </p:custDataLst>
          </p:nvPr>
        </p:nvSpPr>
        <p:spPr>
          <a:xfrm>
            <a:off x="99695" y="3083878"/>
            <a:ext cx="12192000" cy="214312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9988550"/>
              <a:gd name="connsiteY0-2" fmla="*/ 3021109 h 3021109"/>
              <a:gd name="connsiteX1-3" fmla="*/ 1130300 w 9988550"/>
              <a:gd name="connsiteY1-4" fmla="*/ 1255864 h 3021109"/>
              <a:gd name="connsiteX2-5" fmla="*/ 3663950 w 9988550"/>
              <a:gd name="connsiteY2-6" fmla="*/ 2036914 h 3021109"/>
              <a:gd name="connsiteX3-7" fmla="*/ 5416550 w 9988550"/>
              <a:gd name="connsiteY3-8" fmla="*/ 417664 h 3021109"/>
              <a:gd name="connsiteX4-9" fmla="*/ 7016750 w 9988550"/>
              <a:gd name="connsiteY4-10" fmla="*/ 874864 h 3021109"/>
              <a:gd name="connsiteX5-11" fmla="*/ 8597900 w 9988550"/>
              <a:gd name="connsiteY5-12" fmla="*/ 17614 h 3021109"/>
              <a:gd name="connsiteX6-13" fmla="*/ 9988550 w 9988550"/>
              <a:gd name="connsiteY6-14" fmla="*/ 379564 h 3021109"/>
              <a:gd name="connsiteX0-15" fmla="*/ 0 w 10864850"/>
              <a:gd name="connsiteY0-16" fmla="*/ 3004359 h 3004359"/>
              <a:gd name="connsiteX1-17" fmla="*/ 1130300 w 10864850"/>
              <a:gd name="connsiteY1-18" fmla="*/ 1239114 h 3004359"/>
              <a:gd name="connsiteX2-19" fmla="*/ 3663950 w 10864850"/>
              <a:gd name="connsiteY2-20" fmla="*/ 2020164 h 3004359"/>
              <a:gd name="connsiteX3-21" fmla="*/ 5416550 w 10864850"/>
              <a:gd name="connsiteY3-22" fmla="*/ 400914 h 3004359"/>
              <a:gd name="connsiteX4-23" fmla="*/ 7016750 w 10864850"/>
              <a:gd name="connsiteY4-24" fmla="*/ 858114 h 3004359"/>
              <a:gd name="connsiteX5-25" fmla="*/ 8597900 w 10864850"/>
              <a:gd name="connsiteY5-26" fmla="*/ 864 h 3004359"/>
              <a:gd name="connsiteX6-27" fmla="*/ 10864850 w 10864850"/>
              <a:gd name="connsiteY6-28" fmla="*/ 709959 h 30043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64850" h="3004359">
                <a:moveTo>
                  <a:pt x="0" y="3004359"/>
                </a:moveTo>
                <a:cubicBezTo>
                  <a:pt x="455612" y="2256646"/>
                  <a:pt x="519642" y="1403146"/>
                  <a:pt x="1130300" y="1239114"/>
                </a:cubicBezTo>
                <a:cubicBezTo>
                  <a:pt x="1740958" y="1075082"/>
                  <a:pt x="2949575" y="2159864"/>
                  <a:pt x="3663950" y="2020164"/>
                </a:cubicBezTo>
                <a:cubicBezTo>
                  <a:pt x="4378325" y="1880464"/>
                  <a:pt x="4857750" y="594589"/>
                  <a:pt x="5416550" y="400914"/>
                </a:cubicBezTo>
                <a:cubicBezTo>
                  <a:pt x="5975350" y="207239"/>
                  <a:pt x="6486525" y="924789"/>
                  <a:pt x="7016750" y="858114"/>
                </a:cubicBezTo>
                <a:cubicBezTo>
                  <a:pt x="7546975" y="791439"/>
                  <a:pt x="7956550" y="25557"/>
                  <a:pt x="8597900" y="864"/>
                </a:cubicBezTo>
                <a:cubicBezTo>
                  <a:pt x="9239250" y="-23829"/>
                  <a:pt x="10417175" y="487709"/>
                  <a:pt x="10864850" y="709959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  <a:sym typeface="MiSans Normal" panose="00000500000000000000" charset="-122"/>
            </a:endParaRPr>
          </a:p>
        </p:txBody>
      </p:sp>
      <p:sp>
        <p:nvSpPr>
          <p:cNvPr id="10" name="任意多边形: 形状 45"/>
          <p:cNvSpPr/>
          <p:nvPr>
            <p:custDataLst>
              <p:tags r:id="rId2"/>
            </p:custDataLst>
          </p:nvPr>
        </p:nvSpPr>
        <p:spPr>
          <a:xfrm>
            <a:off x="240665" y="3083243"/>
            <a:ext cx="12035155" cy="205295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0725150"/>
              <a:gd name="connsiteY0-2" fmla="*/ 2877595 h 2877595"/>
              <a:gd name="connsiteX1-3" fmla="*/ 1600200 w 10725150"/>
              <a:gd name="connsiteY1-4" fmla="*/ 1239295 h 2877595"/>
              <a:gd name="connsiteX2-5" fmla="*/ 4133850 w 10725150"/>
              <a:gd name="connsiteY2-6" fmla="*/ 2020345 h 2877595"/>
              <a:gd name="connsiteX3-7" fmla="*/ 5886450 w 10725150"/>
              <a:gd name="connsiteY3-8" fmla="*/ 401095 h 2877595"/>
              <a:gd name="connsiteX4-9" fmla="*/ 7486650 w 10725150"/>
              <a:gd name="connsiteY4-10" fmla="*/ 858295 h 2877595"/>
              <a:gd name="connsiteX5-11" fmla="*/ 9067800 w 10725150"/>
              <a:gd name="connsiteY5-12" fmla="*/ 1045 h 2877595"/>
              <a:gd name="connsiteX6-13" fmla="*/ 10725150 w 10725150"/>
              <a:gd name="connsiteY6-14" fmla="*/ 696788 h 2877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725150" h="2877595">
                <a:moveTo>
                  <a:pt x="0" y="2877595"/>
                </a:moveTo>
                <a:cubicBezTo>
                  <a:pt x="455612" y="2129882"/>
                  <a:pt x="911225" y="1382170"/>
                  <a:pt x="1600200" y="1239295"/>
                </a:cubicBezTo>
                <a:cubicBezTo>
                  <a:pt x="2289175" y="1096420"/>
                  <a:pt x="3419475" y="2160045"/>
                  <a:pt x="4133850" y="2020345"/>
                </a:cubicBezTo>
                <a:cubicBezTo>
                  <a:pt x="4848225" y="1880645"/>
                  <a:pt x="5327650" y="594770"/>
                  <a:pt x="5886450" y="401095"/>
                </a:cubicBezTo>
                <a:cubicBezTo>
                  <a:pt x="6445250" y="207420"/>
                  <a:pt x="6956425" y="924970"/>
                  <a:pt x="7486650" y="858295"/>
                </a:cubicBezTo>
                <a:cubicBezTo>
                  <a:pt x="8016875" y="791620"/>
                  <a:pt x="8528050" y="27963"/>
                  <a:pt x="9067800" y="1045"/>
                </a:cubicBezTo>
                <a:cubicBezTo>
                  <a:pt x="9607550" y="-25873"/>
                  <a:pt x="10277475" y="474538"/>
                  <a:pt x="10725150" y="696788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  <a:sym typeface="MiSans Normal" panose="00000500000000000000" charset="-122"/>
            </a:endParaRPr>
          </a:p>
        </p:txBody>
      </p:sp>
      <p:sp>
        <p:nvSpPr>
          <p:cNvPr id="11" name="任意多边形: 形状 46"/>
          <p:cNvSpPr/>
          <p:nvPr>
            <p:custDataLst>
              <p:tags r:id="rId3"/>
            </p:custDataLst>
          </p:nvPr>
        </p:nvSpPr>
        <p:spPr>
          <a:xfrm>
            <a:off x="139065" y="3083878"/>
            <a:ext cx="12131675" cy="212026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1144250"/>
              <a:gd name="connsiteY0-2" fmla="*/ 2989373 h 2989373"/>
              <a:gd name="connsiteX1-3" fmla="*/ 2286000 w 11144250"/>
              <a:gd name="connsiteY1-4" fmla="*/ 1255864 h 2989373"/>
              <a:gd name="connsiteX2-5" fmla="*/ 4819650 w 11144250"/>
              <a:gd name="connsiteY2-6" fmla="*/ 2036914 h 2989373"/>
              <a:gd name="connsiteX3-7" fmla="*/ 6572250 w 11144250"/>
              <a:gd name="connsiteY3-8" fmla="*/ 417664 h 2989373"/>
              <a:gd name="connsiteX4-9" fmla="*/ 8172450 w 11144250"/>
              <a:gd name="connsiteY4-10" fmla="*/ 874864 h 2989373"/>
              <a:gd name="connsiteX5-11" fmla="*/ 9753600 w 11144250"/>
              <a:gd name="connsiteY5-12" fmla="*/ 17614 h 2989373"/>
              <a:gd name="connsiteX6-13" fmla="*/ 11144250 w 11144250"/>
              <a:gd name="connsiteY6-14" fmla="*/ 379564 h 2989373"/>
              <a:gd name="connsiteX0-15" fmla="*/ 0 w 10810875"/>
              <a:gd name="connsiteY0-16" fmla="*/ 2972623 h 2972623"/>
              <a:gd name="connsiteX1-17" fmla="*/ 2286000 w 10810875"/>
              <a:gd name="connsiteY1-18" fmla="*/ 1239114 h 2972623"/>
              <a:gd name="connsiteX2-19" fmla="*/ 4819650 w 10810875"/>
              <a:gd name="connsiteY2-20" fmla="*/ 2020164 h 2972623"/>
              <a:gd name="connsiteX3-21" fmla="*/ 6572250 w 10810875"/>
              <a:gd name="connsiteY3-22" fmla="*/ 400914 h 2972623"/>
              <a:gd name="connsiteX4-23" fmla="*/ 8172450 w 10810875"/>
              <a:gd name="connsiteY4-24" fmla="*/ 858114 h 2972623"/>
              <a:gd name="connsiteX5-25" fmla="*/ 9753600 w 10810875"/>
              <a:gd name="connsiteY5-26" fmla="*/ 864 h 2972623"/>
              <a:gd name="connsiteX6-27" fmla="*/ 10810875 w 10810875"/>
              <a:gd name="connsiteY6-28" fmla="*/ 709959 h 29726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10875" h="2972623">
                <a:moveTo>
                  <a:pt x="0" y="2972623"/>
                </a:moveTo>
                <a:cubicBezTo>
                  <a:pt x="455612" y="2224910"/>
                  <a:pt x="1482725" y="1397857"/>
                  <a:pt x="2286000" y="1239114"/>
                </a:cubicBezTo>
                <a:cubicBezTo>
                  <a:pt x="3089275" y="1080371"/>
                  <a:pt x="4105275" y="2159864"/>
                  <a:pt x="4819650" y="2020164"/>
                </a:cubicBezTo>
                <a:cubicBezTo>
                  <a:pt x="5534025" y="1880464"/>
                  <a:pt x="6013450" y="594589"/>
                  <a:pt x="6572250" y="400914"/>
                </a:cubicBezTo>
                <a:cubicBezTo>
                  <a:pt x="7131050" y="207239"/>
                  <a:pt x="7642225" y="924789"/>
                  <a:pt x="8172450" y="858114"/>
                </a:cubicBezTo>
                <a:cubicBezTo>
                  <a:pt x="8702675" y="791439"/>
                  <a:pt x="9313863" y="25557"/>
                  <a:pt x="9753600" y="864"/>
                </a:cubicBezTo>
                <a:cubicBezTo>
                  <a:pt x="10193338" y="-23829"/>
                  <a:pt x="10363200" y="487709"/>
                  <a:pt x="10810875" y="709959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  <a:sym typeface="MiSans Normal" panose="00000500000000000000" charset="-122"/>
            </a:endParaRPr>
          </a:p>
        </p:txBody>
      </p:sp>
      <p:sp>
        <p:nvSpPr>
          <p:cNvPr id="15" name="任意多边形: 形状 47"/>
          <p:cNvSpPr/>
          <p:nvPr>
            <p:custDataLst>
              <p:tags r:id="rId4"/>
            </p:custDataLst>
          </p:nvPr>
        </p:nvSpPr>
        <p:spPr>
          <a:xfrm>
            <a:off x="186690" y="3111818"/>
            <a:ext cx="12045950" cy="213804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1696700"/>
              <a:gd name="connsiteY0-2" fmla="*/ 3052845 h 3052845"/>
              <a:gd name="connsiteX1-3" fmla="*/ 2838450 w 11696700"/>
              <a:gd name="connsiteY1-4" fmla="*/ 1255864 h 3052845"/>
              <a:gd name="connsiteX2-5" fmla="*/ 5372100 w 11696700"/>
              <a:gd name="connsiteY2-6" fmla="*/ 2036914 h 3052845"/>
              <a:gd name="connsiteX3-7" fmla="*/ 7124700 w 11696700"/>
              <a:gd name="connsiteY3-8" fmla="*/ 417664 h 3052845"/>
              <a:gd name="connsiteX4-9" fmla="*/ 8724900 w 11696700"/>
              <a:gd name="connsiteY4-10" fmla="*/ 874864 h 3052845"/>
              <a:gd name="connsiteX5-11" fmla="*/ 10306050 w 11696700"/>
              <a:gd name="connsiteY5-12" fmla="*/ 17614 h 3052845"/>
              <a:gd name="connsiteX6-13" fmla="*/ 11696700 w 11696700"/>
              <a:gd name="connsiteY6-14" fmla="*/ 379564 h 3052845"/>
              <a:gd name="connsiteX0-15" fmla="*/ 0 w 10734675"/>
              <a:gd name="connsiteY0-16" fmla="*/ 3036950 h 3036950"/>
              <a:gd name="connsiteX1-17" fmla="*/ 2838450 w 10734675"/>
              <a:gd name="connsiteY1-18" fmla="*/ 1239969 h 3036950"/>
              <a:gd name="connsiteX2-19" fmla="*/ 5372100 w 10734675"/>
              <a:gd name="connsiteY2-20" fmla="*/ 2021019 h 3036950"/>
              <a:gd name="connsiteX3-21" fmla="*/ 7124700 w 10734675"/>
              <a:gd name="connsiteY3-22" fmla="*/ 401769 h 3036950"/>
              <a:gd name="connsiteX4-23" fmla="*/ 8724900 w 10734675"/>
              <a:gd name="connsiteY4-24" fmla="*/ 858969 h 3036950"/>
              <a:gd name="connsiteX5-25" fmla="*/ 10306050 w 10734675"/>
              <a:gd name="connsiteY5-26" fmla="*/ 1719 h 3036950"/>
              <a:gd name="connsiteX6-27" fmla="*/ 10734675 w 10734675"/>
              <a:gd name="connsiteY6-28" fmla="*/ 657407 h 3036950"/>
              <a:gd name="connsiteX0-29" fmla="*/ 0 w 10734675"/>
              <a:gd name="connsiteY0-30" fmla="*/ 2997048 h 2997048"/>
              <a:gd name="connsiteX1-31" fmla="*/ 2838450 w 10734675"/>
              <a:gd name="connsiteY1-32" fmla="*/ 1200067 h 2997048"/>
              <a:gd name="connsiteX2-33" fmla="*/ 5372100 w 10734675"/>
              <a:gd name="connsiteY2-34" fmla="*/ 1981117 h 2997048"/>
              <a:gd name="connsiteX3-35" fmla="*/ 7124700 w 10734675"/>
              <a:gd name="connsiteY3-36" fmla="*/ 361867 h 2997048"/>
              <a:gd name="connsiteX4-37" fmla="*/ 8724900 w 10734675"/>
              <a:gd name="connsiteY4-38" fmla="*/ 819067 h 2997048"/>
              <a:gd name="connsiteX5-39" fmla="*/ 10020300 w 10734675"/>
              <a:gd name="connsiteY5-40" fmla="*/ 1872 h 2997048"/>
              <a:gd name="connsiteX6-41" fmla="*/ 10734675 w 10734675"/>
              <a:gd name="connsiteY6-42" fmla="*/ 617505 h 2997048"/>
              <a:gd name="connsiteX0-43" fmla="*/ 0 w 10734675"/>
              <a:gd name="connsiteY0-44" fmla="*/ 2997048 h 2997048"/>
              <a:gd name="connsiteX1-45" fmla="*/ 2838450 w 10734675"/>
              <a:gd name="connsiteY1-46" fmla="*/ 1200067 h 2997048"/>
              <a:gd name="connsiteX2-47" fmla="*/ 5372100 w 10734675"/>
              <a:gd name="connsiteY2-48" fmla="*/ 1981117 h 2997048"/>
              <a:gd name="connsiteX3-49" fmla="*/ 6768621 w 10734675"/>
              <a:gd name="connsiteY3-50" fmla="*/ 393912 h 2997048"/>
              <a:gd name="connsiteX4-51" fmla="*/ 8724900 w 10734675"/>
              <a:gd name="connsiteY4-52" fmla="*/ 819067 h 2997048"/>
              <a:gd name="connsiteX5-53" fmla="*/ 10020300 w 10734675"/>
              <a:gd name="connsiteY5-54" fmla="*/ 1872 h 2997048"/>
              <a:gd name="connsiteX6-55" fmla="*/ 10734675 w 10734675"/>
              <a:gd name="connsiteY6-56" fmla="*/ 617505 h 2997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734675" h="2997048">
                <a:moveTo>
                  <a:pt x="0" y="2997048"/>
                </a:moveTo>
                <a:cubicBezTo>
                  <a:pt x="455612" y="2249335"/>
                  <a:pt x="1943100" y="1369389"/>
                  <a:pt x="2838450" y="1200067"/>
                </a:cubicBezTo>
                <a:cubicBezTo>
                  <a:pt x="3733800" y="1030745"/>
                  <a:pt x="4717072" y="2115476"/>
                  <a:pt x="5372100" y="1981117"/>
                </a:cubicBezTo>
                <a:cubicBezTo>
                  <a:pt x="6027128" y="1846758"/>
                  <a:pt x="6209821" y="587587"/>
                  <a:pt x="6768621" y="393912"/>
                </a:cubicBezTo>
                <a:cubicBezTo>
                  <a:pt x="7327421" y="200237"/>
                  <a:pt x="8182954" y="884407"/>
                  <a:pt x="8724900" y="819067"/>
                </a:cubicBezTo>
                <a:cubicBezTo>
                  <a:pt x="9266846" y="753727"/>
                  <a:pt x="9685337" y="35466"/>
                  <a:pt x="10020300" y="1872"/>
                </a:cubicBezTo>
                <a:cubicBezTo>
                  <a:pt x="10355263" y="-31722"/>
                  <a:pt x="10287000" y="395255"/>
                  <a:pt x="10734675" y="617505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10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sp>
        <p:nvSpPr>
          <p:cNvPr id="17" name="任意多边形: 形状 48"/>
          <p:cNvSpPr/>
          <p:nvPr>
            <p:custDataLst>
              <p:tags r:id="rId5"/>
            </p:custDataLst>
          </p:nvPr>
        </p:nvSpPr>
        <p:spPr>
          <a:xfrm>
            <a:off x="134620" y="3083243"/>
            <a:ext cx="12127865" cy="2128520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0255250"/>
              <a:gd name="connsiteY0-2" fmla="*/ 2999951 h 2999951"/>
              <a:gd name="connsiteX1-3" fmla="*/ 1397000 w 10255250"/>
              <a:gd name="connsiteY1-4" fmla="*/ 1255864 h 2999951"/>
              <a:gd name="connsiteX2-5" fmla="*/ 3930650 w 10255250"/>
              <a:gd name="connsiteY2-6" fmla="*/ 2036914 h 2999951"/>
              <a:gd name="connsiteX3-7" fmla="*/ 5683250 w 10255250"/>
              <a:gd name="connsiteY3-8" fmla="*/ 417664 h 2999951"/>
              <a:gd name="connsiteX4-9" fmla="*/ 7283450 w 10255250"/>
              <a:gd name="connsiteY4-10" fmla="*/ 874864 h 2999951"/>
              <a:gd name="connsiteX5-11" fmla="*/ 8864600 w 10255250"/>
              <a:gd name="connsiteY5-12" fmla="*/ 17614 h 2999951"/>
              <a:gd name="connsiteX6-13" fmla="*/ 10255250 w 10255250"/>
              <a:gd name="connsiteY6-14" fmla="*/ 379564 h 2999951"/>
              <a:gd name="connsiteX0-15" fmla="*/ 0 w 10807700"/>
              <a:gd name="connsiteY0-16" fmla="*/ 2983584 h 2983584"/>
              <a:gd name="connsiteX1-17" fmla="*/ 1397000 w 10807700"/>
              <a:gd name="connsiteY1-18" fmla="*/ 1239497 h 2983584"/>
              <a:gd name="connsiteX2-19" fmla="*/ 3930650 w 10807700"/>
              <a:gd name="connsiteY2-20" fmla="*/ 2020547 h 2983584"/>
              <a:gd name="connsiteX3-21" fmla="*/ 5683250 w 10807700"/>
              <a:gd name="connsiteY3-22" fmla="*/ 401297 h 2983584"/>
              <a:gd name="connsiteX4-23" fmla="*/ 7283450 w 10807700"/>
              <a:gd name="connsiteY4-24" fmla="*/ 858497 h 2983584"/>
              <a:gd name="connsiteX5-25" fmla="*/ 8864600 w 10807700"/>
              <a:gd name="connsiteY5-26" fmla="*/ 1247 h 2983584"/>
              <a:gd name="connsiteX6-27" fmla="*/ 10807700 w 10807700"/>
              <a:gd name="connsiteY6-28" fmla="*/ 683638 h 2983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07700" h="2983584">
                <a:moveTo>
                  <a:pt x="0" y="2983584"/>
                </a:moveTo>
                <a:cubicBezTo>
                  <a:pt x="455612" y="2235871"/>
                  <a:pt x="741892" y="1400003"/>
                  <a:pt x="1397000" y="1239497"/>
                </a:cubicBezTo>
                <a:cubicBezTo>
                  <a:pt x="2052108" y="1078991"/>
                  <a:pt x="3216275" y="2160247"/>
                  <a:pt x="3930650" y="2020547"/>
                </a:cubicBezTo>
                <a:cubicBezTo>
                  <a:pt x="4645025" y="1880847"/>
                  <a:pt x="5124450" y="594972"/>
                  <a:pt x="5683250" y="401297"/>
                </a:cubicBezTo>
                <a:cubicBezTo>
                  <a:pt x="6242050" y="207622"/>
                  <a:pt x="6753225" y="925172"/>
                  <a:pt x="7283450" y="858497"/>
                </a:cubicBezTo>
                <a:cubicBezTo>
                  <a:pt x="7813675" y="791822"/>
                  <a:pt x="8277225" y="30390"/>
                  <a:pt x="8864600" y="1247"/>
                </a:cubicBezTo>
                <a:cubicBezTo>
                  <a:pt x="9451975" y="-27896"/>
                  <a:pt x="10360025" y="461388"/>
                  <a:pt x="10807700" y="683638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  <a:sym typeface="MiSans Normal" panose="00000500000000000000" charset="-122"/>
            </a:endParaRPr>
          </a:p>
        </p:txBody>
      </p:sp>
      <p:sp>
        <p:nvSpPr>
          <p:cNvPr id="19" name="任意多边形: 形状 49"/>
          <p:cNvSpPr/>
          <p:nvPr>
            <p:custDataLst>
              <p:tags r:id="rId6"/>
            </p:custDataLst>
          </p:nvPr>
        </p:nvSpPr>
        <p:spPr>
          <a:xfrm>
            <a:off x="407670" y="3083243"/>
            <a:ext cx="11864340" cy="205295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0572750"/>
              <a:gd name="connsiteY0-2" fmla="*/ 2877797 h 2877797"/>
              <a:gd name="connsiteX1-3" fmla="*/ 1600200 w 10572750"/>
              <a:gd name="connsiteY1-4" fmla="*/ 1239497 h 2877797"/>
              <a:gd name="connsiteX2-5" fmla="*/ 4133850 w 10572750"/>
              <a:gd name="connsiteY2-6" fmla="*/ 2020547 h 2877797"/>
              <a:gd name="connsiteX3-7" fmla="*/ 5886450 w 10572750"/>
              <a:gd name="connsiteY3-8" fmla="*/ 401297 h 2877797"/>
              <a:gd name="connsiteX4-9" fmla="*/ 7486650 w 10572750"/>
              <a:gd name="connsiteY4-10" fmla="*/ 858497 h 2877797"/>
              <a:gd name="connsiteX5-11" fmla="*/ 9067800 w 10572750"/>
              <a:gd name="connsiteY5-12" fmla="*/ 1247 h 2877797"/>
              <a:gd name="connsiteX6-13" fmla="*/ 10572750 w 10572750"/>
              <a:gd name="connsiteY6-14" fmla="*/ 683638 h 2877797"/>
              <a:gd name="connsiteX0-15" fmla="*/ 0 w 10572750"/>
              <a:gd name="connsiteY0-16" fmla="*/ 2877797 h 2877797"/>
              <a:gd name="connsiteX1-17" fmla="*/ 1600200 w 10572750"/>
              <a:gd name="connsiteY1-18" fmla="*/ 1239497 h 2877797"/>
              <a:gd name="connsiteX2-19" fmla="*/ 4133850 w 10572750"/>
              <a:gd name="connsiteY2-20" fmla="*/ 2020547 h 2877797"/>
              <a:gd name="connsiteX3-21" fmla="*/ 5886450 w 10572750"/>
              <a:gd name="connsiteY3-22" fmla="*/ 401297 h 2877797"/>
              <a:gd name="connsiteX4-23" fmla="*/ 7486650 w 10572750"/>
              <a:gd name="connsiteY4-24" fmla="*/ 858497 h 2877797"/>
              <a:gd name="connsiteX5-25" fmla="*/ 9067800 w 10572750"/>
              <a:gd name="connsiteY5-26" fmla="*/ 1247 h 2877797"/>
              <a:gd name="connsiteX6-27" fmla="*/ 10572750 w 10572750"/>
              <a:gd name="connsiteY6-28" fmla="*/ 683638 h 28777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572750" h="2877797">
                <a:moveTo>
                  <a:pt x="0" y="2877797"/>
                </a:moveTo>
                <a:cubicBezTo>
                  <a:pt x="455612" y="2130084"/>
                  <a:pt x="911225" y="1382372"/>
                  <a:pt x="1600200" y="1239497"/>
                </a:cubicBezTo>
                <a:cubicBezTo>
                  <a:pt x="2289175" y="1096622"/>
                  <a:pt x="3419475" y="2160247"/>
                  <a:pt x="4133850" y="2020547"/>
                </a:cubicBezTo>
                <a:cubicBezTo>
                  <a:pt x="4848225" y="1880847"/>
                  <a:pt x="5464147" y="799698"/>
                  <a:pt x="5886450" y="401297"/>
                </a:cubicBezTo>
                <a:cubicBezTo>
                  <a:pt x="6308753" y="2896"/>
                  <a:pt x="6956425" y="925172"/>
                  <a:pt x="7486650" y="858497"/>
                </a:cubicBezTo>
                <a:cubicBezTo>
                  <a:pt x="8016875" y="791822"/>
                  <a:pt x="8553450" y="30390"/>
                  <a:pt x="9067800" y="1247"/>
                </a:cubicBezTo>
                <a:cubicBezTo>
                  <a:pt x="9582150" y="-27896"/>
                  <a:pt x="10125075" y="461388"/>
                  <a:pt x="10572750" y="683638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  <a:sym typeface="MiSans Normal" panose="00000500000000000000" charset="-122"/>
            </a:endParaRPr>
          </a:p>
        </p:txBody>
      </p:sp>
      <p:sp>
        <p:nvSpPr>
          <p:cNvPr id="20" name="任意多边形: 形状 50"/>
          <p:cNvSpPr/>
          <p:nvPr>
            <p:custDataLst>
              <p:tags r:id="rId7"/>
            </p:custDataLst>
          </p:nvPr>
        </p:nvSpPr>
        <p:spPr>
          <a:xfrm>
            <a:off x="128270" y="3097848"/>
            <a:ext cx="12163425" cy="2188845"/>
          </a:xfrm>
          <a:custGeom>
            <a:avLst/>
            <a:gdLst>
              <a:gd name="connsiteX0" fmla="*/ 0 w 10458450"/>
              <a:gd name="connsiteY0" fmla="*/ 2894164 h 2894164"/>
              <a:gd name="connsiteX1" fmla="*/ 1600200 w 10458450"/>
              <a:gd name="connsiteY1" fmla="*/ 1255864 h 2894164"/>
              <a:gd name="connsiteX2" fmla="*/ 4133850 w 10458450"/>
              <a:gd name="connsiteY2" fmla="*/ 2036914 h 2894164"/>
              <a:gd name="connsiteX3" fmla="*/ 5886450 w 10458450"/>
              <a:gd name="connsiteY3" fmla="*/ 417664 h 2894164"/>
              <a:gd name="connsiteX4" fmla="*/ 7486650 w 10458450"/>
              <a:gd name="connsiteY4" fmla="*/ 874864 h 2894164"/>
              <a:gd name="connsiteX5" fmla="*/ 9067800 w 10458450"/>
              <a:gd name="connsiteY5" fmla="*/ 17614 h 2894164"/>
              <a:gd name="connsiteX6" fmla="*/ 10458450 w 10458450"/>
              <a:gd name="connsiteY6" fmla="*/ 379564 h 2894164"/>
              <a:gd name="connsiteX0-1" fmla="*/ 0 w 11315700"/>
              <a:gd name="connsiteY0-2" fmla="*/ 3084581 h 3084581"/>
              <a:gd name="connsiteX1-3" fmla="*/ 2457450 w 11315700"/>
              <a:gd name="connsiteY1-4" fmla="*/ 1255864 h 3084581"/>
              <a:gd name="connsiteX2-5" fmla="*/ 4991100 w 11315700"/>
              <a:gd name="connsiteY2-6" fmla="*/ 2036914 h 3084581"/>
              <a:gd name="connsiteX3-7" fmla="*/ 6743700 w 11315700"/>
              <a:gd name="connsiteY3-8" fmla="*/ 417664 h 3084581"/>
              <a:gd name="connsiteX4-9" fmla="*/ 8343900 w 11315700"/>
              <a:gd name="connsiteY4-10" fmla="*/ 874864 h 3084581"/>
              <a:gd name="connsiteX5-11" fmla="*/ 9925050 w 11315700"/>
              <a:gd name="connsiteY5-12" fmla="*/ 17614 h 3084581"/>
              <a:gd name="connsiteX6-13" fmla="*/ 11315700 w 11315700"/>
              <a:gd name="connsiteY6-14" fmla="*/ 379564 h 3084581"/>
              <a:gd name="connsiteX0-15" fmla="*/ 0 w 10839450"/>
              <a:gd name="connsiteY0-16" fmla="*/ 3068438 h 3068438"/>
              <a:gd name="connsiteX1-17" fmla="*/ 2457450 w 10839450"/>
              <a:gd name="connsiteY1-18" fmla="*/ 1239721 h 3068438"/>
              <a:gd name="connsiteX2-19" fmla="*/ 4991100 w 10839450"/>
              <a:gd name="connsiteY2-20" fmla="*/ 2020771 h 3068438"/>
              <a:gd name="connsiteX3-21" fmla="*/ 6743700 w 10839450"/>
              <a:gd name="connsiteY3-22" fmla="*/ 401521 h 3068438"/>
              <a:gd name="connsiteX4-23" fmla="*/ 8343900 w 10839450"/>
              <a:gd name="connsiteY4-24" fmla="*/ 858721 h 3068438"/>
              <a:gd name="connsiteX5-25" fmla="*/ 9925050 w 10839450"/>
              <a:gd name="connsiteY5-26" fmla="*/ 1471 h 3068438"/>
              <a:gd name="connsiteX6-27" fmla="*/ 10839450 w 10839450"/>
              <a:gd name="connsiteY6-28" fmla="*/ 670511 h 30684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39450" h="3068438">
                <a:moveTo>
                  <a:pt x="0" y="3068438"/>
                </a:moveTo>
                <a:cubicBezTo>
                  <a:pt x="455612" y="2320725"/>
                  <a:pt x="1625600" y="1414332"/>
                  <a:pt x="2457450" y="1239721"/>
                </a:cubicBezTo>
                <a:cubicBezTo>
                  <a:pt x="3289300" y="1065110"/>
                  <a:pt x="4276725" y="2160471"/>
                  <a:pt x="4991100" y="2020771"/>
                </a:cubicBezTo>
                <a:cubicBezTo>
                  <a:pt x="5705475" y="1881071"/>
                  <a:pt x="6184900" y="595196"/>
                  <a:pt x="6743700" y="401521"/>
                </a:cubicBezTo>
                <a:cubicBezTo>
                  <a:pt x="7302500" y="207846"/>
                  <a:pt x="7813675" y="925396"/>
                  <a:pt x="8343900" y="858721"/>
                </a:cubicBezTo>
                <a:cubicBezTo>
                  <a:pt x="8874125" y="792046"/>
                  <a:pt x="9509125" y="32839"/>
                  <a:pt x="9925050" y="1471"/>
                </a:cubicBezTo>
                <a:cubicBezTo>
                  <a:pt x="10340975" y="-29897"/>
                  <a:pt x="10391775" y="448261"/>
                  <a:pt x="10839450" y="670511"/>
                </a:cubicBezTo>
              </a:path>
            </a:pathLst>
          </a:custGeom>
          <a:noFill/>
          <a:ln>
            <a:gradFill flip="none" rotWithShape="1">
              <a:gsLst>
                <a:gs pos="1770">
                  <a:schemeClr val="accent1">
                    <a:lumMod val="20000"/>
                    <a:lumOff val="80000"/>
                    <a:alpha val="0"/>
                  </a:schemeClr>
                </a:gs>
                <a:gs pos="26000">
                  <a:schemeClr val="accent1">
                    <a:lumMod val="20000"/>
                    <a:lumOff val="80000"/>
                    <a:alpha val="80000"/>
                  </a:schemeClr>
                </a:gs>
                <a:gs pos="97345">
                  <a:schemeClr val="accent1">
                    <a:alpha val="0"/>
                  </a:schemeClr>
                </a:gs>
                <a:gs pos="65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4985" y="3167063"/>
            <a:ext cx="967740" cy="5257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81400" y="4395153"/>
            <a:ext cx="937260" cy="2362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180000">
            <a:off x="5737860" y="4379913"/>
            <a:ext cx="937260" cy="236220"/>
          </a:xfrm>
          <a:prstGeom prst="rect">
            <a:avLst/>
          </a:prstGeom>
        </p:spPr>
      </p:pic>
      <p:cxnSp>
        <p:nvCxnSpPr>
          <p:cNvPr id="25" name="直接连接符 24"/>
          <p:cNvCxnSpPr/>
          <p:nvPr>
            <p:custDataLst>
              <p:tags r:id="rId13"/>
            </p:custDataLst>
          </p:nvPr>
        </p:nvCxnSpPr>
        <p:spPr>
          <a:xfrm>
            <a:off x="4699000" y="2064703"/>
            <a:ext cx="0" cy="199771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30000">
                  <a:schemeClr val="accent1">
                    <a:alpha val="100000"/>
                  </a:schemeClr>
                </a:gs>
                <a:gs pos="3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26" name="直接连接符 25"/>
          <p:cNvCxnSpPr/>
          <p:nvPr>
            <p:custDataLst>
              <p:tags r:id="rId14"/>
            </p:custDataLst>
          </p:nvPr>
        </p:nvCxnSpPr>
        <p:spPr>
          <a:xfrm>
            <a:off x="8351520" y="1716088"/>
            <a:ext cx="0" cy="154305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30000">
                  <a:schemeClr val="accent1">
                    <a:alpha val="100000"/>
                  </a:schemeClr>
                </a:gs>
                <a:gs pos="3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29" name="矩形 28"/>
          <p:cNvSpPr/>
          <p:nvPr>
            <p:custDataLst>
              <p:tags r:id="rId15"/>
            </p:custDataLst>
          </p:nvPr>
        </p:nvSpPr>
        <p:spPr>
          <a:xfrm>
            <a:off x="1450340" y="2411413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gradFill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核心优势</a:t>
            </a:r>
            <a:endParaRPr lang="zh-CN" altLang="en-US" sz="2400" b="1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2241550" y="4999673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gradFill>
                  <a:gsLst>
                    <a:gs pos="0">
                      <a:schemeClr val="accent2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现实挑战</a:t>
            </a:r>
            <a:endParaRPr lang="zh-CN" altLang="en-US" sz="2400" b="1">
              <a:gradFill>
                <a:gsLst>
                  <a:gs pos="0">
                    <a:schemeClr val="accent2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17"/>
            </p:custDataLst>
          </p:nvPr>
        </p:nvSpPr>
        <p:spPr>
          <a:xfrm>
            <a:off x="4900930" y="2248853"/>
            <a:ext cx="2277110" cy="1138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形成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“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龙头引领、全链覆盖、空间集聚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”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态势，涵盖八大细分领域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3" name="矩形 32"/>
          <p:cNvSpPr/>
          <p:nvPr>
            <p:custDataLst>
              <p:tags r:id="rId18"/>
            </p:custDataLst>
          </p:nvPr>
        </p:nvSpPr>
        <p:spPr>
          <a:xfrm>
            <a:off x="4900930" y="1669733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产业格局</a:t>
            </a:r>
            <a:endParaRPr lang="zh-CN" altLang="en-US" sz="2000" b="1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9"/>
            </p:custDataLst>
          </p:nvPr>
        </p:nvCxnSpPr>
        <p:spPr>
          <a:xfrm>
            <a:off x="5876290" y="4415473"/>
            <a:ext cx="0" cy="1571625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30000">
                  <a:schemeClr val="accent2">
                    <a:alpha val="100000"/>
                  </a:schemeClr>
                </a:gs>
                <a:gs pos="3000">
                  <a:schemeClr val="accent2">
                    <a:lumMod val="20000"/>
                    <a:lumOff val="80000"/>
                    <a:alpha val="100000"/>
                  </a:schemeClr>
                </a:gs>
                <a:gs pos="83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35" name="矩形 34"/>
          <p:cNvSpPr/>
          <p:nvPr>
            <p:custDataLst>
              <p:tags r:id="rId20"/>
            </p:custDataLst>
          </p:nvPr>
        </p:nvSpPr>
        <p:spPr>
          <a:xfrm>
            <a:off x="6074410" y="5141278"/>
            <a:ext cx="2277110" cy="1138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小微创新企业融资难、转化弱，部分企业缺乏创新动力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6" name="矩形 35"/>
          <p:cNvSpPr/>
          <p:nvPr>
            <p:custDataLst>
              <p:tags r:id="rId21"/>
            </p:custDataLst>
          </p:nvPr>
        </p:nvSpPr>
        <p:spPr>
          <a:xfrm>
            <a:off x="6074410" y="4562158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2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创新生态不均衡</a:t>
            </a:r>
            <a:endParaRPr lang="zh-CN" altLang="en-US" sz="2000" b="1">
              <a:gradFill>
                <a:gsLst>
                  <a:gs pos="0">
                    <a:schemeClr val="accent2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7" name="矩形 36"/>
          <p:cNvSpPr/>
          <p:nvPr>
            <p:custDataLst>
              <p:tags r:id="rId22"/>
            </p:custDataLst>
          </p:nvPr>
        </p:nvSpPr>
        <p:spPr>
          <a:xfrm>
            <a:off x="8562340" y="1937703"/>
            <a:ext cx="2277110" cy="1138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遵循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“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技术为王、资本为翼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”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，专利转化是核心驱动，注册资本提供创新保障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8" name="矩形 37"/>
          <p:cNvSpPr/>
          <p:nvPr>
            <p:custDataLst>
              <p:tags r:id="rId23"/>
            </p:custDataLst>
          </p:nvPr>
        </p:nvSpPr>
        <p:spPr>
          <a:xfrm>
            <a:off x="8562340" y="1358583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成长机制</a:t>
            </a:r>
            <a:endParaRPr lang="zh-CN" altLang="en-US" sz="2000" b="1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24"/>
            </p:custDataLst>
          </p:nvPr>
        </p:nvCxnSpPr>
        <p:spPr>
          <a:xfrm>
            <a:off x="8770620" y="3596958"/>
            <a:ext cx="0" cy="1571625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30000">
                  <a:schemeClr val="accent2">
                    <a:alpha val="100000"/>
                  </a:schemeClr>
                </a:gs>
                <a:gs pos="3000">
                  <a:schemeClr val="accent2">
                    <a:lumMod val="20000"/>
                    <a:lumOff val="80000"/>
                    <a:alpha val="100000"/>
                  </a:schemeClr>
                </a:gs>
                <a:gs pos="83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40" name="矩形 39"/>
          <p:cNvSpPr/>
          <p:nvPr>
            <p:custDataLst>
              <p:tags r:id="rId25"/>
            </p:custDataLst>
          </p:nvPr>
        </p:nvSpPr>
        <p:spPr>
          <a:xfrm>
            <a:off x="8968740" y="4391343"/>
            <a:ext cx="2277110" cy="1138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小微企业实缴率低，融资渠道单一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41" name="矩形 40"/>
          <p:cNvSpPr/>
          <p:nvPr>
            <p:custDataLst>
              <p:tags r:id="rId26"/>
            </p:custDataLst>
          </p:nvPr>
        </p:nvSpPr>
        <p:spPr>
          <a:xfrm>
            <a:off x="8968740" y="3812223"/>
            <a:ext cx="2277110" cy="530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2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资本配置不精准</a:t>
            </a:r>
            <a:endParaRPr lang="zh-CN" altLang="en-US" sz="2000" b="1">
              <a:gradFill>
                <a:gsLst>
                  <a:gs pos="0">
                    <a:schemeClr val="accent2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86" name="右箭头 185"/>
          <p:cNvSpPr/>
          <p:nvPr>
            <p:custDataLst>
              <p:tags r:id="rId27"/>
            </p:custDataLst>
          </p:nvPr>
        </p:nvSpPr>
        <p:spPr>
          <a:xfrm>
            <a:off x="798239" y="2500467"/>
            <a:ext cx="610600" cy="61157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右箭头 208"/>
          <p:cNvSpPr/>
          <p:nvPr>
            <p:custDataLst>
              <p:tags r:id="rId28"/>
            </p:custDataLst>
          </p:nvPr>
        </p:nvSpPr>
        <p:spPr>
          <a:xfrm>
            <a:off x="1533569" y="5076918"/>
            <a:ext cx="610600" cy="611575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alpha val="20000"/>
                </a:schemeClr>
              </a:gs>
              <a:gs pos="100000">
                <a:schemeClr val="accent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组合 214"/>
          <p:cNvGrpSpPr/>
          <p:nvPr>
            <p:custDataLst>
              <p:tags r:id="rId1"/>
            </p:custDataLst>
          </p:nvPr>
        </p:nvGrpSpPr>
        <p:grpSpPr>
          <a:xfrm rot="0">
            <a:off x="660400" y="2651125"/>
            <a:ext cx="10858500" cy="3187826"/>
            <a:chOff x="660400" y="1457272"/>
            <a:chExt cx="10858500" cy="3187904"/>
          </a:xfrm>
        </p:grpSpPr>
        <p:cxnSp>
          <p:nvCxnSpPr>
            <p:cNvPr id="153" name="直接连接符 152"/>
            <p:cNvCxnSpPr>
              <a:stCxn id="183" idx="4"/>
              <a:endCxn id="201" idx="4"/>
            </p:cNvCxnSpPr>
            <p:nvPr>
              <p:custDataLst>
                <p:tags r:id="rId2"/>
              </p:custDataLst>
            </p:nvPr>
          </p:nvCxnSpPr>
          <p:spPr>
            <a:xfrm>
              <a:off x="984400" y="2212637"/>
              <a:ext cx="0" cy="2324157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圆角矩形 179"/>
            <p:cNvSpPr/>
            <p:nvPr>
              <p:custDataLst>
                <p:tags r:id="rId3"/>
              </p:custDataLst>
            </p:nvPr>
          </p:nvSpPr>
          <p:spPr>
            <a:xfrm>
              <a:off x="1557382" y="1565272"/>
              <a:ext cx="2384698" cy="648000"/>
            </a:xfrm>
            <a:prstGeom prst="roundRect">
              <a:avLst/>
            </a:prstGeom>
            <a:noFill/>
            <a:ln w="6731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强化产业链协同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89" name="组合 188"/>
            <p:cNvGrpSpPr/>
            <p:nvPr/>
          </p:nvGrpSpPr>
          <p:grpSpPr>
            <a:xfrm>
              <a:off x="5069840" y="1457272"/>
              <a:ext cx="6449060" cy="864000"/>
              <a:chOff x="5293148" y="2096543"/>
              <a:chExt cx="6238452" cy="864000"/>
            </a:xfrm>
          </p:grpSpPr>
          <p:sp>
            <p:nvSpPr>
              <p:cNvPr id="179" name="圆角矩形 178"/>
              <p:cNvSpPr/>
              <p:nvPr/>
            </p:nvSpPr>
            <p:spPr>
              <a:xfrm>
                <a:off x="5293148" y="2096543"/>
                <a:ext cx="6238452" cy="864000"/>
              </a:xfrm>
              <a:prstGeom prst="roundRect">
                <a:avLst>
                  <a:gd name="adj" fmla="val 13235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190500" dist="38100" dir="5400000" algn="t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90816" y="2173380"/>
                <a:ext cx="5932549" cy="688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规范数据标准，搭建共享平台，组建产业联盟</a:t>
                </a:r>
                <a:endParaRPr kumimoji="1"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183" name="椭圆 182"/>
            <p:cNvSpPr/>
            <p:nvPr>
              <p:custDataLst>
                <p:tags r:id="rId4"/>
              </p:custDataLst>
            </p:nvPr>
          </p:nvSpPr>
          <p:spPr>
            <a:xfrm>
              <a:off x="660400" y="1565272"/>
              <a:ext cx="648000" cy="648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77800" dist="1524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kumimoji="1" lang="en-US" b="1" dirty="0">
                  <a:solidFill>
                    <a:srgbClr val="FFFFFF"/>
                  </a:solidFill>
                </a:rPr>
                <a:t>01</a:t>
              </a:r>
              <a:endParaRPr kumimoji="1" b="1" dirty="0">
                <a:solidFill>
                  <a:srgbClr val="FFFFFF"/>
                </a:solidFill>
              </a:endParaRPr>
            </a:p>
          </p:txBody>
        </p:sp>
        <p:sp>
          <p:nvSpPr>
            <p:cNvPr id="186" name="右箭头 185"/>
            <p:cNvSpPr/>
            <p:nvPr>
              <p:custDataLst>
                <p:tags r:id="rId5"/>
              </p:custDataLst>
            </p:nvPr>
          </p:nvSpPr>
          <p:spPr>
            <a:xfrm>
              <a:off x="4221524" y="1583477"/>
              <a:ext cx="610600" cy="61159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圆角矩形 191"/>
            <p:cNvSpPr/>
            <p:nvPr>
              <p:custDataLst>
                <p:tags r:id="rId6"/>
              </p:custDataLst>
            </p:nvPr>
          </p:nvSpPr>
          <p:spPr>
            <a:xfrm>
              <a:off x="1557382" y="2727224"/>
              <a:ext cx="2384698" cy="648000"/>
            </a:xfrm>
            <a:prstGeom prst="roundRect">
              <a:avLst/>
            </a:prstGeom>
            <a:noFill/>
            <a:ln w="6731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优化创新生态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5069840" y="2619224"/>
              <a:ext cx="6449060" cy="864000"/>
              <a:chOff x="5293148" y="2096543"/>
              <a:chExt cx="6238452" cy="864000"/>
            </a:xfrm>
          </p:grpSpPr>
          <p:sp>
            <p:nvSpPr>
              <p:cNvPr id="196" name="圆角矩形 195"/>
              <p:cNvSpPr/>
              <p:nvPr/>
            </p:nvSpPr>
            <p:spPr>
              <a:xfrm>
                <a:off x="5293148" y="2096543"/>
                <a:ext cx="6238452" cy="864000"/>
              </a:xfrm>
              <a:prstGeom prst="roundRect">
                <a:avLst>
                  <a:gd name="adj" fmla="val 13235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190500" dist="38100" dir="5400000" algn="t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5423901" y="2168543"/>
                <a:ext cx="5932338" cy="72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支持龙头攻关核心技术，扶持成长型企业专利转化，为小微提供孵化基金与算力支持</a:t>
                </a:r>
                <a:endParaRPr kumimoji="1"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194" name="椭圆 193"/>
            <p:cNvSpPr/>
            <p:nvPr>
              <p:custDataLst>
                <p:tags r:id="rId7"/>
              </p:custDataLst>
            </p:nvPr>
          </p:nvSpPr>
          <p:spPr>
            <a:xfrm>
              <a:off x="660400" y="2727224"/>
              <a:ext cx="648000" cy="648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77800" dist="1524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kumimoji="1" lang="en-US" b="1" dirty="0">
                  <a:solidFill>
                    <a:srgbClr val="FFFFFF"/>
                  </a:solidFill>
                </a:rPr>
                <a:t>02</a:t>
              </a:r>
              <a:endParaRPr kumimoji="1" b="1" dirty="0">
                <a:solidFill>
                  <a:srgbClr val="FFFFFF"/>
                </a:solidFill>
              </a:endParaRPr>
            </a:p>
          </p:txBody>
        </p:sp>
        <p:sp>
          <p:nvSpPr>
            <p:cNvPr id="195" name="右箭头 194"/>
            <p:cNvSpPr/>
            <p:nvPr>
              <p:custDataLst>
                <p:tags r:id="rId8"/>
              </p:custDataLst>
            </p:nvPr>
          </p:nvSpPr>
          <p:spPr>
            <a:xfrm>
              <a:off x="4221524" y="2745429"/>
              <a:ext cx="610600" cy="611590"/>
            </a:xfrm>
            <a:prstGeom prst="rightArrow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圆角矩形 198"/>
            <p:cNvSpPr/>
            <p:nvPr>
              <p:custDataLst>
                <p:tags r:id="rId9"/>
              </p:custDataLst>
            </p:nvPr>
          </p:nvSpPr>
          <p:spPr>
            <a:xfrm>
              <a:off x="1557382" y="3889176"/>
              <a:ext cx="2384698" cy="648000"/>
            </a:xfrm>
            <a:prstGeom prst="roundRect">
              <a:avLst/>
            </a:prstGeom>
            <a:noFill/>
            <a:ln w="6731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精准资本赋能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200" name="组合 199"/>
            <p:cNvGrpSpPr/>
            <p:nvPr/>
          </p:nvGrpSpPr>
          <p:grpSpPr>
            <a:xfrm>
              <a:off x="5069840" y="3781176"/>
              <a:ext cx="6449060" cy="864000"/>
              <a:chOff x="5293148" y="2096543"/>
              <a:chExt cx="6238452" cy="864000"/>
            </a:xfrm>
          </p:grpSpPr>
          <p:sp>
            <p:nvSpPr>
              <p:cNvPr id="203" name="圆角矩形 202"/>
              <p:cNvSpPr/>
              <p:nvPr/>
            </p:nvSpPr>
            <p:spPr>
              <a:xfrm>
                <a:off x="5293148" y="2096543"/>
                <a:ext cx="6238452" cy="864000"/>
              </a:xfrm>
              <a:prstGeom prst="roundRect">
                <a:avLst>
                  <a:gd name="adj" fmla="val 13235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190500" dist="38100" dir="5400000" algn="t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5390731" y="2132347"/>
                <a:ext cx="5932338" cy="72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设立专项基金，引导资本流向高技术密度领域，举办投融资对接会，促进资本与产业深度融合</a:t>
                </a:r>
                <a:endParaRPr kumimoji="1"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201" name="椭圆 200"/>
            <p:cNvSpPr/>
            <p:nvPr>
              <p:custDataLst>
                <p:tags r:id="rId10"/>
              </p:custDataLst>
            </p:nvPr>
          </p:nvSpPr>
          <p:spPr>
            <a:xfrm>
              <a:off x="660400" y="3889176"/>
              <a:ext cx="648000" cy="648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77800" dist="1524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kumimoji="1" lang="en-US" b="1" dirty="0">
                  <a:solidFill>
                    <a:srgbClr val="FFFFFF"/>
                  </a:solidFill>
                </a:rPr>
                <a:t>03</a:t>
              </a:r>
              <a:endParaRPr kumimoji="1" b="1" dirty="0">
                <a:solidFill>
                  <a:srgbClr val="FFFFFF"/>
                </a:solidFill>
              </a:endParaRPr>
            </a:p>
          </p:txBody>
        </p:sp>
        <p:sp>
          <p:nvSpPr>
            <p:cNvPr id="202" name="右箭头 201"/>
            <p:cNvSpPr/>
            <p:nvPr>
              <p:custDataLst>
                <p:tags r:id="rId11"/>
              </p:custDataLst>
            </p:nvPr>
          </p:nvSpPr>
          <p:spPr>
            <a:xfrm>
              <a:off x="4221524" y="3907381"/>
              <a:ext cx="610600" cy="61159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发展路径与政策建议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910590" y="1433195"/>
            <a:ext cx="10062210" cy="864235"/>
          </a:xfrm>
          <a:prstGeom prst="roundRect">
            <a:avLst>
              <a:gd name="adj" fmla="val 13235"/>
            </a:avLst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190500" dist="38100" dir="5400000" algn="t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>
                <a:solidFill>
                  <a:schemeClr val="tx1"/>
                </a:solidFill>
              </a:rPr>
              <a:t>紧扣国家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数据要素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×</a:t>
            </a:r>
            <a:r>
              <a:rPr lang="en-US" altLang="zh-CN">
                <a:solidFill>
                  <a:schemeClr val="tx1"/>
                </a:solidFill>
              </a:rPr>
              <a:t>” </a:t>
            </a:r>
            <a:r>
              <a:rPr lang="zh-CN" altLang="en-US">
                <a:solidFill>
                  <a:schemeClr val="tx1"/>
                </a:solidFill>
              </a:rPr>
              <a:t>战略与浙江改革试点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构建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制度创新引领、技术创新驱动、市场机制赋能、生态协同共荣</a:t>
            </a:r>
            <a:r>
              <a:rPr lang="en-US" altLang="zh-CN">
                <a:solidFill>
                  <a:schemeClr val="tx1"/>
                </a:solidFill>
              </a:rPr>
              <a:t>” </a:t>
            </a:r>
            <a:r>
              <a:rPr lang="zh-CN" altLang="en-US">
                <a:solidFill>
                  <a:schemeClr val="tx1"/>
                </a:solidFill>
              </a:rPr>
              <a:t>高质量发展路径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 hasCustomPrompt="1"/>
          </p:nvPr>
        </p:nvSpPr>
        <p:spPr>
          <a:xfrm>
            <a:off x="617220" y="2120265"/>
            <a:ext cx="8823960" cy="1421765"/>
          </a:xfrm>
        </p:spPr>
        <p:txBody>
          <a:bodyPr>
            <a:normAutofit/>
          </a:bodyPr>
          <a:lstStyle/>
          <a:p>
            <a:r>
              <a:rPr lang="zh-CN" altLang="en-US" sz="7200"/>
              <a:t>感谢聆听</a:t>
            </a:r>
            <a:endParaRPr lang="zh-CN" altLang="en-US" sz="7200"/>
          </a:p>
        </p:txBody>
      </p:sp>
      <p:sp>
        <p:nvSpPr>
          <p:cNvPr id="7" name="文本占位符 6"/>
          <p:cNvSpPr>
            <a:spLocks noGrp="1"/>
          </p:cNvSpPr>
          <p:nvPr/>
        </p:nvSpPr>
        <p:spPr>
          <a:xfrm>
            <a:off x="682891" y="5120621"/>
            <a:ext cx="6732000" cy="288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686435" y="5082333"/>
            <a:ext cx="6300788" cy="295221"/>
          </a:xfrm>
        </p:spPr>
        <p:txBody>
          <a:bodyPr>
            <a:noAutofit/>
          </a:bodyPr>
          <a:lstStyle/>
          <a:p>
            <a:r>
              <a:rPr lang="en-US" sz="1600" b="1"/>
              <a:t>2025.12.24</a:t>
            </a:r>
            <a:endParaRPr lang="en-US" sz="1600" b="1"/>
          </a:p>
        </p:txBody>
      </p:sp>
      <p:sp>
        <p:nvSpPr>
          <p:cNvPr id="10" name="文本占位符 1"/>
          <p:cNvSpPr/>
          <p:nvPr/>
        </p:nvSpPr>
        <p:spPr>
          <a:xfrm>
            <a:off x="680720" y="4794250"/>
            <a:ext cx="6734175" cy="288290"/>
          </a:xfrm>
          <a:prstGeom prst="rect">
            <a:avLst/>
          </a:prstGeom>
        </p:spPr>
        <p:txBody>
          <a:bodyPr vert="horz" wrap="square" lIns="9000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/>
              <a:t>叶焱林</a:t>
            </a:r>
            <a:endParaRPr lang="zh-CN" altLang="en-US" sz="16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2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3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4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5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6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7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8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9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10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11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12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13.xml><?xml version="1.0" encoding="utf-8"?>
<p:tagLst xmlns:p="http://schemas.openxmlformats.org/presentationml/2006/main">
  <p:tag name="KSO_WM_DIAGRAM_VIRTUALLY_FRAME" val="{&quot;height&quot;:335.18464566929134,&quot;left&quot;:181.33346456692905,&quot;top&quot;:109.6224409448819,&quot;width&quot;:733.1517683239108}"/>
</p:tagLst>
</file>

<file path=ppt/tags/tag14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15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16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17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18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19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20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21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22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23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24.xml><?xml version="1.0" encoding="utf-8"?>
<p:tagLst xmlns:p="http://schemas.openxmlformats.org/presentationml/2006/main">
  <p:tag name="KSO_WM_DIAGRAM_VIRTUALLY_FRAME" val="{&quot;height&quot;:403.8,&quot;left&quot;:42.15,&quot;top&quot;:89.2,&quot;width&quot;:674.9999999999998}"/>
</p:tagLst>
</file>

<file path=ppt/tags/tag25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26.xml><?xml version="1.0" encoding="utf-8"?>
<p:tagLst xmlns:p="http://schemas.openxmlformats.org/presentationml/2006/main">
  <p:tag name="KSO_WM_DIAGRAM_VIRTUALLY_FRAME" val="{&quot;height&quot;:400.8,&quot;left&quot;:52,&quot;top&quot;:92.2,&quot;width&quot;:665.1499999999999}"/>
</p:tagLst>
</file>

<file path=ppt/tags/tag27.xml><?xml version="1.0" encoding="utf-8"?>
<p:tagLst xmlns:p="http://schemas.openxmlformats.org/presentationml/2006/main">
  <p:tag name="ISLIDE.SMARTDIAGRAM" val="#950966;"/>
</p:tagLst>
</file>

<file path=ppt/tags/tag28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68_1*m_h_a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1068_1*m_h_f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1068_1*m_h_i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1068_1*m_h_i*1_1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68_1*m_h_a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1068_1*m_h_f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068_1*m_h_i*1_2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1068_1*m_h_a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1*m_h_f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1068_1*m_h_i*1_3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1068_1*m_h_i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1068_1*m_h_i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9,&quot;left&quot;:64.54998779296875,&quot;top&quot;:135.45,&quot;width&quot;:825.92505157711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VIRTUALLY_FRAME" val="{&quot;height&quot;:387.11015748031485,&quot;left&quot;:5,&quot;top&quot;:95.93984251968503,&quot;width&quot;:955}"/>
</p:tagLst>
</file>

<file path=ppt/tags/tag41.xml><?xml version="1.0" encoding="utf-8"?>
<p:tagLst xmlns:p="http://schemas.openxmlformats.org/presentationml/2006/main">
  <p:tag name="KSO_WM_DIAGRAM_VIRTUALLY_FRAME" val="{&quot;height&quot;:387.11015748031485,&quot;left&quot;:5,&quot;top&quot;:95.93984251968503,&quot;width&quot;:955}"/>
</p:tagLst>
</file>

<file path=ppt/tags/tag42.xml><?xml version="1.0" encoding="utf-8"?>
<p:tagLst xmlns:p="http://schemas.openxmlformats.org/presentationml/2006/main">
  <p:tag name="KSO_WM_DIAGRAM_VIRTUALLY_FRAME" val="{&quot;height&quot;:390.4315748031496,&quot;left&quot;:5,&quot;top&quot;:95.93984251968503,&quot;width&quot;:955}"/>
</p:tagLst>
</file>

<file path=ppt/tags/tag43.xml><?xml version="1.0" encoding="utf-8"?>
<p:tagLst xmlns:p="http://schemas.openxmlformats.org/presentationml/2006/main">
  <p:tag name="KSO_WM_DIAGRAM_VIRTUALLY_FRAME" val="{&quot;height&quot;:387.11015748031485,&quot;left&quot;:5,&quot;top&quot;:95.93984251968503,&quot;width&quot;:955}"/>
</p:tagLst>
</file>

<file path=ppt/tags/tag44.xml><?xml version="1.0" encoding="utf-8"?>
<p:tagLst xmlns:p="http://schemas.openxmlformats.org/presentationml/2006/main">
  <p:tag name="KSO_WM_DIAGRAM_VIRTUALLY_FRAME" val="{&quot;height&quot;:390.4315748031496,&quot;left&quot;:5,&quot;top&quot;:95.93984251968503,&quot;width&quot;:955}"/>
</p:tagLst>
</file>

<file path=ppt/tags/tag45.xml><?xml version="1.0" encoding="utf-8"?>
<p:tagLst xmlns:p="http://schemas.openxmlformats.org/presentationml/2006/main">
  <p:tag name="KSO_WM_DIAGRAM_VIRTUALLY_FRAME" val="{&quot;height&quot;:387.11015748031485,&quot;left&quot;:5,&quot;top&quot;:95.93984251968503,&quot;width&quot;:955}"/>
</p:tagLst>
</file>

<file path=ppt/tags/tag46.xml><?xml version="1.0" encoding="utf-8"?>
<p:tagLst xmlns:p="http://schemas.openxmlformats.org/presentationml/2006/main">
  <p:tag name="KSO_WM_DIAGRAM_VIRTUALLY_FRAME" val="{&quot;height&quot;:390.4315748031496,&quot;left&quot;:5,&quot;top&quot;:95.93984251968503,&quot;width&quot;:955}"/>
</p:tagLst>
</file>

<file path=ppt/tags/tag47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48.xml><?xml version="1.0" encoding="utf-8"?>
<p:tagLst xmlns:p="http://schemas.openxmlformats.org/presentationml/2006/main">
  <p:tag name="KSO_WM_DIAGRAM_VIRTUALLY_FRAME" val="{&quot;height&quot;:379.6118897637795,&quot;left&quot;:52.000078740157484,&quot;top&quot;:103.38811023622047,&quot;width&quot;:854.9999212598425}"/>
</p:tagLst>
</file>

<file path=ppt/tags/tag49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0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1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2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3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4.xml><?xml version="1.0" encoding="utf-8"?>
<p:tagLst xmlns:p="http://schemas.openxmlformats.org/presentationml/2006/main">
  <p:tag name="KSO_WM_DIAGRAM_VIRTUALLY_FRAME" val="{&quot;height&quot;:379.61188976377963,&quot;left&quot;:52.00007874015746,&quot;top&quot;:103.38811023622047,&quot;width&quot;:854.9999212598425}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40492855_2*n_h_i*1_1_1"/>
  <p:tag name="KSO_WM_TEMPLATE_CATEGORY" val="diagram"/>
  <p:tag name="KSO_WM_TEMPLATE_INDEX" val="40492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YPE" val="n_h_i"/>
  <p:tag name="KSO_WM_UNIT_INDEX" val="1_1_1"/>
  <p:tag name="KSO_WM_DIAGRAM_MAX_ITEMCNT" val="4"/>
  <p:tag name="KSO_WM_DIAGRAM_MIN_ITEMCNT" val="2"/>
  <p:tag name="KSO_WM_DIAGRAM_VIRTUALLY_FRAME" val="{&quot;height&quot;:481.01165354330703,&quot;left&quot;:-100.37496062992126,&quot;top&quot;:37.7,&quot;width&quot;:879.8999212598425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5_2*n_i*1_1"/>
  <p:tag name="KSO_WM_TEMPLATE_CATEGORY" val="diagram"/>
  <p:tag name="KSO_WM_TEMPLATE_INDEX" val="40492855"/>
  <p:tag name="KSO_WM_UNIT_LAYERLEVEL" val="1_1"/>
  <p:tag name="KSO_WM_TAG_VERSION" val="3.0"/>
  <p:tag name="KSO_WM_BEAUTIFY_FLAG" val="#wm#"/>
  <p:tag name="KSO_WM_DIAGRAM_GROUP_CODE" val="n1-1"/>
  <p:tag name="KSO_WM_UNIT_TYPE" val="n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481.01165354330703,&quot;left&quot;:-100.37496062992126,&quot;top&quot;:37.7,&quot;width&quot;:879.8999212598425}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800000011920929},{&quot;brightness&quot;:0,&quot;colorType&quot;:1,&quot;foreColorIndex&quot;:5,&quot;pos&quot;:0.7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DIAGRAM_VIRTUALLY_FRAME" val="{&quot;height&quot;:420.7570866141732,&quot;left&quot;:52,&quot;top&quot;:36.49708661417323,&quot;width&quot;:855}"/>
</p:tagLst>
</file>

<file path=ppt/tags/tag58.xml><?xml version="1.0" encoding="utf-8"?>
<p:tagLst xmlns:p="http://schemas.openxmlformats.org/presentationml/2006/main">
  <p:tag name="KSO_WM_DIAGRAM_VIRTUALLY_FRAME" val="{&quot;height&quot;:420.7570866141732,&quot;left&quot;:52,&quot;top&quot;:36.49708661417323,&quot;width&quot;:855}"/>
</p:tagLst>
</file>

<file path=ppt/tags/tag59.xml><?xml version="1.0" encoding="utf-8"?>
<p:tagLst xmlns:p="http://schemas.openxmlformats.org/presentationml/2006/main">
  <p:tag name="KSO_WM_DIAGRAM_VIRTUALLY_FRAME" val="{&quot;height&quot;:420.7570866141732,&quot;left&quot;:52,&quot;top&quot;:36.49708661417323,&quot;width&quot;:855}"/>
</p:tagLst>
</file>

<file path=ppt/tags/tag60.xml><?xml version="1.0" encoding="utf-8"?>
<p:tagLst xmlns:p="http://schemas.openxmlformats.org/presentationml/2006/main">
  <p:tag name="KSO_WM_DIAGRAM_VIRTUALLY_FRAME" val="{&quot;height&quot;:420.7570866141732,&quot;left&quot;:52,&quot;top&quot;:36.49708661417323,&quot;width&quot;:855}"/>
</p:tagLst>
</file>

<file path=ppt/tags/tag61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2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3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4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5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6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7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8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69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70.xml><?xml version="1.0" encoding="utf-8"?>
<p:tagLst xmlns:p="http://schemas.openxmlformats.org/presentationml/2006/main">
  <p:tag name="KSO_WM_DIAGRAM_VIRTUALLY_FRAME" val="{&quot;height&quot;:358.95551181102365,&quot;left&quot;:0,&quot;top&quot;:123.66031496062988,&quot;width&quot;:998.75}"/>
</p:tagLst>
</file>

<file path=ppt/tags/tag71.xml><?xml version="1.0" encoding="utf-8"?>
<p:tagLst xmlns:p="http://schemas.openxmlformats.org/presentationml/2006/main">
  <p:tag name="KSO_WM_DIAGRAM_VIRTUALLY_FRAME" val="{&quot;height&quot;:429.84999386290053,&quot;left&quot;:45.9,&quot;top&quot;:88.05000140005866,&quot;width&quot;:869.1582766564352}"/>
</p:tagLst>
</file>

<file path=ppt/tags/tag72.xml><?xml version="1.0" encoding="utf-8"?>
<p:tagLst xmlns:p="http://schemas.openxmlformats.org/presentationml/2006/main">
  <p:tag name="KSO_WM_DIAGRAM_VIRTUALLY_FRAME" val="{&quot;height&quot;:429.84999386290053,&quot;left&quot;:45.9,&quot;top&quot;:88.05000140005866,&quot;width&quot;:869.1582766564352}"/>
</p:tagLst>
</file>

<file path=ppt/tags/tag73.xml><?xml version="1.0" encoding="utf-8"?>
<p:tagLst xmlns:p="http://schemas.openxmlformats.org/presentationml/2006/main">
  <p:tag name="KSO_WM_DIAGRAM_VIRTUALLY_FRAME" val="{&quot;height&quot;:429.84999386290053,&quot;left&quot;:45.9,&quot;top&quot;:88.05000140005866,&quot;width&quot;:869.1582766564352}"/>
</p:tagLst>
</file>

<file path=ppt/tags/tag74.xml><?xml version="1.0" encoding="utf-8"?>
<p:tagLst xmlns:p="http://schemas.openxmlformats.org/presentationml/2006/main">
  <p:tag name="KSO_WM_DIAGRAM_VIRTUALLY_FRAME" val="{&quot;height&quot;:429.84999386290053,&quot;left&quot;:45.9,&quot;top&quot;:88.05000140005866,&quot;width&quot;:869.1582766564352}"/>
</p:tagLst>
</file>

<file path=ppt/tags/tag75.xml><?xml version="1.0" encoding="utf-8"?>
<p:tagLst xmlns:p="http://schemas.openxmlformats.org/presentationml/2006/main">
  <p:tag name="KSO_WM_DIAGRAM_VIRTUALLY_FRAME" val="{&quot;height&quot;:429.84999386290053,&quot;left&quot;:45.9,&quot;top&quot;:88.05000140005866,&quot;width&quot;:869.1582766564352}"/>
</p:tagLst>
</file>

<file path=ppt/tags/tag76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77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78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79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0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1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2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3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4.xml><?xml version="1.0" encoding="utf-8"?>
<p:tagLst xmlns:p="http://schemas.openxmlformats.org/presentationml/2006/main">
  <p:tag name="KSO_WM_DIAGRAM_VIRTUALLY_FRAME" val="{&quot;height&quot;:137.1,&quot;left&quot;:85.8,&quot;top&quot;:346.9,&quot;width&quot;:795.45}"/>
</p:tagLst>
</file>

<file path=ppt/tags/tag85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86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87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88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89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90.xml><?xml version="1.0" encoding="utf-8"?>
<p:tagLst xmlns:p="http://schemas.openxmlformats.org/presentationml/2006/main">
  <p:tag name="KSO_WM_DIAGRAM_VIRTUALLY_FRAME" val="{&quot;height&quot;:382.1055905511811,&quot;left&quot;:52,&quot;top&quot;:92.64440944881889,&quot;width&quot;:855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TEMPLATE_CATEGORY" val="diagram"/>
  <p:tag name="KSO_WM_TEMPLATE_INDEX" val="202332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i*1_2_1_1"/>
  <p:tag name="KSO_WM_UNIT_INDEX" val="1_2_1_1"/>
  <p:tag name="KSO_WM_DIAGRAM_GROUP_CODE" val="n1-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TEMPLATE_CATEGORY" val="diagram"/>
  <p:tag name="KSO_WM_TEMPLATE_INDEX" val="202332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i*1_2_2_1"/>
  <p:tag name="KSO_WM_UNIT_INDEX" val="1_2_2_1"/>
  <p:tag name="KSO_WM_DIAGRAM_GROUP_CODE" val="n1-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TEMPLATE_CATEGORY" val="diagram"/>
  <p:tag name="KSO_WM_TEMPLATE_INDEX" val="202332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i*1_2_3_1"/>
  <p:tag name="KSO_WM_UNIT_INDEX" val="1_2_3_1"/>
  <p:tag name="KSO_WM_DIAGRAM_GROUP_CODE" val="n1-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TEMPLATE_CATEGORY" val="diagram"/>
  <p:tag name="KSO_WM_TEMPLATE_INDEX" val="202332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i*1_2_4_1"/>
  <p:tag name="KSO_WM_UNIT_INDEX" val="1_2_4_1"/>
  <p:tag name="KSO_WM_DIAGRAM_GROUP_CODE" val="n1-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63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f*1_2_1_1"/>
  <p:tag name="KSO_WM_UNIT_INDEX" val="1_2_1_1"/>
  <p:tag name="KSO_WM_DIAGRAM_GROUP_CODE" val="n1-1"/>
  <p:tag name="KSO_WM_UNIT_TEXT_TYPE" val="1"/>
  <p:tag name="KSO_WM_UNIT_TEXT_LAYER_COUNT" val="1"/>
  <p:tag name="KSO_WM_BEAUTIFY_FLAG" val="#wm#"/>
  <p:tag name="KSO_WM_UNIT_PRESET_TEXT" val="单击此处输入您的项正文，文字是思想的提炼，请尽量言简意赅的阐述观点。单击此处输入您的项正文，文字是思想的提炼，请尽量言简意赅的阐述观点。单击此处输入您的项正文，文字是思想的提炼，请尽量言简意赅阐述观点，文字是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63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f*1_2_3_1"/>
  <p:tag name="KSO_WM_UNIT_INDEX" val="1_2_3_1"/>
  <p:tag name="KSO_WM_DIAGRAM_GROUP_CODE" val="n1-1"/>
  <p:tag name="KSO_WM_UNIT_TEXT_TYPE" val="1"/>
  <p:tag name="KSO_WM_UNIT_TEXT_LAYER_COUNT" val="1"/>
  <p:tag name="KSO_WM_BEAUTIFY_FLAG" val="#wm#"/>
  <p:tag name="KSO_WM_UNIT_PRESET_TEXT" val="单击此处输入您的项正文，文字是思想的提炼，请尽量言简意赅的阐述内容观点。单击此处输入您的项正文，文字是思想的提炼，请尽量言简意赅的阐述内容观点。单击此处输入您的项正文，文字是思想的提炼，请尽量言简意赅阐述观点，文字是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63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f*1_2_4_1"/>
  <p:tag name="KSO_WM_UNIT_INDEX" val="1_2_4_1"/>
  <p:tag name="KSO_WM_DIAGRAM_GROUP_CODE" val="n1-1"/>
  <p:tag name="KSO_WM_UNIT_TEXT_TYPE" val="1"/>
  <p:tag name="KSO_WM_UNIT_TEXT_LAYER_COUNT" val="1"/>
  <p:tag name="KSO_WM_BEAUTIFY_FLAG" val="#wm#"/>
  <p:tag name="KSO_WM_UNIT_PRESET_TEXT" val="单击此处输入您的项正文，文字是思想的提炼，请尽量言简意赅的阐述观点。单击此处输入您的项正文，文字是思想的提炼，请尽量言简意赅的阐述观点。单击此处输入您的项正文，文字是思想的提炼，请尽量言简意赅阐述观点，文字是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63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75.3969299316406,&quot;left&quot;:50.25,&quot;top&quot;:123.45,&quot;width&quot;:855.31070866141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3_1*n_h_h_f*1_2_2_1"/>
  <p:tag name="KSO_WM_UNIT_INDEX" val="1_2_2_1"/>
  <p:tag name="KSO_WM_DIAGRAM_GROUP_CODE" val="n1-1"/>
  <p:tag name="KSO_WM_UNIT_TEXT_TYPE" val="1"/>
  <p:tag name="KSO_WM_UNIT_TEXT_LAYER_COUNT" val="1"/>
  <p:tag name="KSO_WM_BEAUTIFY_FLAG" val="#wm#"/>
  <p:tag name="KSO_WM_UNIT_PRESET_TEXT" val="单击此处输入您的项正文，文字是思想的提炼，请尽量言简意赅的阐述内容观点。单击此处输入您的项正文，文字是思想的提炼，请尽量言简意赅的阐述内容观点。单击此处输入您的项正文，文字是思想的提炼，请尽量言简意赅阐述观点，文字是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2454_1*l_i*1_1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2454_1*l_i*1_2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2454_1*l_i*1_3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54_1*l_h_a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54_1*l_h_a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50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2454_1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36*1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2454_1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66039370078744,&quot;left&quot;:-1.8,&quot;top&quot;:225.2,&quot;width&quot;:969.89409448818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TABLE_ENDDRAG_ORIGIN_RECT" val="612*189"/>
  <p:tag name="TABLE_ENDDRAG_RECT" val="170*126*612*189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1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2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2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3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4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4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5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5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6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6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7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7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1769999973475933,&quot;transparency&quot;:1},{&quot;brightness&quot;:0.800000011920929,&quot;colorType&quot;:1,&quot;foreColorIndex&quot;:5,&quot;pos&quot;:0.25999999046325684,&quot;transparency&quot;:0.20000000298023224},{&quot;brightness&quot;:0,&quot;colorType&quot;:1,&quot;foreColorIndex&quot;:5,&quot;pos&quot;:0.9734500050544739,&quot;transparency&quot;:1},{&quot;brightness&quot;:0,&quot;colorType&quot;:1,&quot;foreColorIndex&quot;:5,&quot;pos&quot;:0.64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8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8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9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9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i*1_10"/>
  <p:tag name="KSO_WM_TEMPLATE_CATEGORY" val="diagram"/>
  <p:tag name="KSO_WM_TEMPLATE_INDEX" val="2023486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0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i*1_3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0000001192092896,&quot;transparency&quot;:0},{&quot;brightness&quot;:0.800000011920929,&quot;colorType&quot;:1,&quot;foreColorIndex&quot;:5,&quot;pos&quot;:0.029999999329447746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i*1_5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0000001192092896,&quot;transparency&quot;:0},{&quot;brightness&quot;:0.800000011920929,&quot;colorType&quot;:1,&quot;foreColorIndex&quot;:5,&quot;pos&quot;:0.029999999329447746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1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1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2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f*1_3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m1-1"/>
  <p:tag name="KSO_WM_UNIT_TYPE" val="m_h_f"/>
  <p:tag name="KSO_WM_UNIT_INDEX" val="1_3_1"/>
  <p:tag name="KSO_WM_UNIT_PRESET_TEXT" val="单击此处输入您的项正文，文字是您思想的提炼，请尽量言简意赅的阐述"/>
  <p:tag name="KSO_WM_UNIT_TEXT_FILL_FORE_SCHEMECOLOR_INDEX" val="1"/>
  <p:tag name="KSO_WM_UNIT_TEXT_FILL_TYPE" val="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3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i*1_4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0000001192092896,&quot;transparency&quot;:0},{&quot;brightness&quot;:0.800000011920929,&quot;colorType&quot;:1,&quot;foreColorIndex&quot;:5,&quot;pos&quot;:0.029999999329447746,&quot;transparency&quot;:0},{&quot;brightness&quot;:0,&quot;colorType&quot;:1,&quot;foreColorIndex&quot;:5,&quot;pos&quot;:0.829999983310699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f*1_4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m1-1"/>
  <p:tag name="KSO_WM_UNIT_TYPE" val="m_h_f"/>
  <p:tag name="KSO_WM_UNIT_INDEX" val="1_4_1"/>
  <p:tag name="KSO_WM_UNIT_PRESET_TEXT" val="单击此处输入您的项正文，文字是您思想的提炼，请尽量言简意赅的阐述"/>
  <p:tag name="KSO_WM_UNIT_TEXT_FILL_FORE_SCHEMECOLOR_INDEX" val="1"/>
  <p:tag name="KSO_WM_UNIT_TEXT_FILL_TYPE" val="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4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4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f*1_5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m1-1"/>
  <p:tag name="KSO_WM_UNIT_TYPE" val="m_h_f"/>
  <p:tag name="KSO_WM_UNIT_INDEX" val="1_5_1"/>
  <p:tag name="KSO_WM_UNIT_PRESET_TEXT" val="单击此处输入您的项正文，文字是您思想的提炼，请尽量言简意赅的阐述"/>
  <p:tag name="KSO_WM_UNIT_TEXT_FILL_FORE_SCHEMECOLOR_INDEX" val="1"/>
  <p:tag name="KSO_WM_UNIT_TEXT_FILL_TYPE" val="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5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5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i*1_6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0000001192092896,&quot;transparency&quot;:0},{&quot;brightness&quot;:0.800000011920929,&quot;colorType&quot;:1,&quot;foreColorIndex&quot;:5,&quot;pos&quot;:0.029999999329447746,&quot;transparency&quot;:0},{&quot;brightness&quot;:0,&quot;colorType&quot;:1,&quot;foreColorIndex&quot;:5,&quot;pos&quot;:0.829999983310699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f*1_6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m1-1"/>
  <p:tag name="KSO_WM_UNIT_TYPE" val="m_h_f"/>
  <p:tag name="KSO_WM_UNIT_INDEX" val="1_6_1"/>
  <p:tag name="KSO_WM_UNIT_PRESET_TEXT" val="单击此处输入您的项正文，文字是您思想的提炼，请尽量言简意赅的阐述"/>
  <p:tag name="KSO_WM_UNIT_TEXT_FILL_FORE_SCHEMECOLOR_INDEX" val="1"/>
  <p:tag name="KSO_WM_UNIT_TEXT_FILL_TYPE" val="1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60_3*m_h_a*1_6_1"/>
  <p:tag name="KSO_WM_TEMPLATE_CATEGORY" val="diagram"/>
  <p:tag name="KSO_WM_TEMPLATE_INDEX" val="2023486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6_1"/>
  <p:tag name="KSO_WM_UNIT_PRESET_TEXT" val="添加项标题"/>
  <p:tag name="KSO_WM_UNIT_TEXT_FILL_FORE_SCHEMECOLOR_INDEX" val="3"/>
  <p:tag name="KSO_WM_UNIT_TEXT_FILL_TYPE" val="3"/>
  <p:tag name="KSO_WM_DIAGRAM_MAX_ITEMCNT" val="6"/>
  <p:tag name="KSO_WM_DIAGRAM_MIN_ITEMCNT" val="4"/>
  <p:tag name="KSO_WM_DIAGRAM_VIRTUALLY_FRAME" val="{&quot;height&quot;:387.5250393700788,&quot;left&quot;:7.85,&quot;top&quot;:106.9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2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3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4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5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6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7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8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39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40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41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42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43.xml><?xml version="1.0" encoding="utf-8"?>
<p:tagLst xmlns:p="http://schemas.openxmlformats.org/presentationml/2006/main">
  <p:tag name="KSO_WM_DIAGRAM_VIRTUALLY_FRAME" val="{&quot;height&quot;:342.5,&quot;left&quot;:52,&quot;top&quot;:125.35,&quot;width&quot;:855}"/>
</p:tagLst>
</file>

<file path=ppt/tags/tag144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resource_record_key" val="{&quot;29&quot;:[50000054],&quot;70&quot;:[3314167,3313621,3426748,3322479,3314426,3321728,3327382]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A30B7"/>
      </a:accent1>
      <a:accent2>
        <a:srgbClr val="66D3CA"/>
      </a:accent2>
      <a:accent3>
        <a:srgbClr val="9B30B8"/>
      </a:accent3>
      <a:accent4>
        <a:srgbClr val="3A30B8"/>
      </a:accent4>
      <a:accent5>
        <a:srgbClr val="B83077"/>
      </a:accent5>
      <a:accent6>
        <a:srgbClr val="3087B8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3590</Words>
  <Application>WPS 演示</Application>
  <PresentationFormat>宽屏</PresentationFormat>
  <Paragraphs>492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Arial Unicode MS</vt:lpstr>
      <vt:lpstr>Calibri</vt:lpstr>
      <vt:lpstr>优设标题黑</vt:lpstr>
      <vt:lpstr>MiSans Normal</vt:lpstr>
      <vt:lpstr>黑体</vt:lpstr>
      <vt:lpstr>MiSans Normal</vt:lpstr>
      <vt:lpstr>优设标题黑</vt:lpstr>
      <vt:lpstr>Segoe Print</vt:lpstr>
      <vt:lpstr>Designed by OfficePLUS</vt:lpstr>
      <vt:lpstr>滨江区数据要素 产业发展研究报告</vt:lpstr>
      <vt:lpstr>PowerPoint 演示文稿</vt:lpstr>
      <vt:lpstr>数据要素引领数字经济新征程</vt:lpstr>
      <vt:lpstr>核心背景与研究意义</vt:lpstr>
      <vt:lpstr>研究设计与样本说明</vt:lpstr>
      <vt:lpstr>数据要素企业全景扫描</vt:lpstr>
      <vt:lpstr>产业结构与企业分布</vt:lpstr>
      <vt:lpstr>企业基础画像</vt:lpstr>
      <vt:lpstr>技术创新能力</vt:lpstr>
      <vt:lpstr>技术创新能力分析</vt:lpstr>
      <vt:lpstr>技术创新能力分析</vt:lpstr>
      <vt:lpstr>资本活跃度与成长路径</vt:lpstr>
      <vt:lpstr>资本活跃度与成长路径</vt:lpstr>
      <vt:lpstr>空间集聚与产业分布</vt:lpstr>
      <vt:lpstr>空间集聚与产业分布</vt:lpstr>
      <vt:lpstr>产业分群与成长机制分析</vt:lpstr>
      <vt:lpstr>企业聚类分析结果</vt:lpstr>
      <vt:lpstr>企业聚类分析结果</vt:lpstr>
      <vt:lpstr>成长驱动因素回归分析</vt:lpstr>
      <vt:lpstr>高质量发展路径与政策建议</vt:lpstr>
      <vt:lpstr>产业现状</vt:lpstr>
      <vt:lpstr>发展路径与政策建议</vt:lpstr>
      <vt:lpstr>谢谢观看</vt:lpstr>
    </vt:vector>
  </TitlesOfParts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滨江区数据要素 产业发展研究报告</dc:title>
  <dc:creator>OfficePLUS</dc:creator>
  <cp:lastModifiedBy>离线请留言</cp:lastModifiedBy>
  <cp:revision>12</cp:revision>
  <cp:lastPrinted>2025-12-04T16:00:00Z</cp:lastPrinted>
  <dcterms:created xsi:type="dcterms:W3CDTF">2025-12-23T10:16:00Z</dcterms:created>
  <dcterms:modified xsi:type="dcterms:W3CDTF">2025-12-24T03:18:23Z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d49724e5-2e54-410d-93d6-7fe4459189de</vt:lpwstr>
  </property>
  <property fmtid="{D5CDD505-2E9C-101B-9397-08002B2CF9AE}" pid="3" name="ICV">
    <vt:lpwstr>E30A15777EB44A0BB356FE82216E4E51_13</vt:lpwstr>
  </property>
  <property fmtid="{D5CDD505-2E9C-101B-9397-08002B2CF9AE}" pid="4" name="KSOProductBuildVer">
    <vt:lpwstr>2052-12.1.0.24034</vt:lpwstr>
  </property>
</Properties>
</file>